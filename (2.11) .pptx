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8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36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01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93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38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79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46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97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598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04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42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02584-7045-4D59-9BB4-5D8619E3DDD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68912-00E8-4702-B403-93278C2592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8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스토어를 아이 쇼핑해서 리소스의 가치</a:t>
            </a:r>
            <a:r>
              <a:rPr lang="en-US" altLang="ko-KR"/>
              <a:t>V</a:t>
            </a:r>
            <a:r>
              <a:rPr lang="en-US" altLang="ko-KR" smtClean="0"/>
              <a:t>alue</a:t>
            </a:r>
            <a:r>
              <a:rPr lang="ko-KR" altLang="en-US" smtClean="0"/>
              <a:t> 척도를 알아보자 </a:t>
            </a:r>
            <a:r>
              <a:rPr lang="en-US" altLang="ko-KR" smtClean="0"/>
              <a:t>– </a:t>
            </a:r>
            <a:r>
              <a:rPr lang="ko-KR" altLang="en-US" smtClean="0"/>
              <a:t>습관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언리얼 스토어 </a:t>
            </a:r>
            <a:r>
              <a:rPr lang="en-US" altLang="ko-KR" smtClean="0"/>
              <a:t>– Fab</a:t>
            </a:r>
          </a:p>
          <a:p>
            <a:pPr lvl="1"/>
            <a:r>
              <a:rPr lang="en-US" altLang="ko-KR" smtClean="0"/>
              <a:t>3D</a:t>
            </a:r>
            <a:r>
              <a:rPr lang="ko-KR" altLang="en-US" smtClean="0"/>
              <a:t>든 </a:t>
            </a:r>
            <a:r>
              <a:rPr lang="en-US" altLang="ko-KR" smtClean="0"/>
              <a:t>2D</a:t>
            </a:r>
            <a:r>
              <a:rPr lang="ko-KR" altLang="en-US" smtClean="0"/>
              <a:t>든 리소스의 수준에 따른 가격대를 알 수 있다</a:t>
            </a:r>
            <a:r>
              <a:rPr lang="en-US" altLang="ko-KR" smtClean="0"/>
              <a:t>.(G2:Mech)</a:t>
            </a:r>
            <a:endParaRPr lang="en-US" altLang="ko-KR"/>
          </a:p>
          <a:p>
            <a:r>
              <a:rPr lang="ko-KR" altLang="en-US" smtClean="0"/>
              <a:t>유니티 스토어 </a:t>
            </a:r>
            <a:r>
              <a:rPr lang="en-US" altLang="ko-KR" smtClean="0"/>
              <a:t>– </a:t>
            </a:r>
            <a:r>
              <a:rPr lang="ko-KR" altLang="en-US" smtClean="0"/>
              <a:t>에셋 스토어</a:t>
            </a:r>
            <a:endParaRPr lang="en-US" altLang="ko-KR" smtClean="0"/>
          </a:p>
          <a:p>
            <a:pPr lvl="1"/>
            <a:r>
              <a:rPr lang="ko-KR" altLang="en-US" smtClean="0"/>
              <a:t>추천 퍼블리셔로 가서 코드를 입력하면</a:t>
            </a:r>
            <a:r>
              <a:rPr lang="en-US" altLang="ko-KR" smtClean="0"/>
              <a:t>, </a:t>
            </a:r>
            <a:r>
              <a:rPr lang="ko-KR" altLang="en-US" smtClean="0"/>
              <a:t>한 달에 한 번 씩 에셋들을 무료로 받을 수 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Ida Faber</a:t>
            </a:r>
          </a:p>
          <a:p>
            <a:endParaRPr lang="en-US" altLang="ko-KR"/>
          </a:p>
          <a:p>
            <a:r>
              <a:rPr lang="ko-KR" altLang="en-US" smtClean="0"/>
              <a:t>스토어들 모두 한 달에</a:t>
            </a:r>
            <a:r>
              <a:rPr lang="en-US" altLang="ko-KR"/>
              <a:t> </a:t>
            </a:r>
            <a:r>
              <a:rPr lang="ko-KR" altLang="en-US" smtClean="0"/>
              <a:t>한 번 쯤 무료로 모델링을 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96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하나 만드는 데 드는 비용 산정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설정 기획자 </a:t>
            </a:r>
            <a:r>
              <a:rPr lang="en-US" altLang="ko-KR" smtClean="0"/>
              <a:t>: 2</a:t>
            </a:r>
            <a:r>
              <a:rPr lang="ko-KR" altLang="en-US" smtClean="0"/>
              <a:t>주 정도 작업 </a:t>
            </a:r>
            <a:r>
              <a:rPr lang="en-US" altLang="ko-KR" smtClean="0"/>
              <a:t>(</a:t>
            </a:r>
            <a:r>
              <a:rPr lang="ko-KR" altLang="en-US" smtClean="0"/>
              <a:t>연봉 </a:t>
            </a:r>
            <a:r>
              <a:rPr lang="en-US" altLang="ko-KR" smtClean="0"/>
              <a:t>3</a:t>
            </a:r>
            <a:r>
              <a:rPr lang="ko-KR" altLang="en-US" smtClean="0"/>
              <a:t>천 </a:t>
            </a:r>
            <a:r>
              <a:rPr lang="en-US" altLang="ko-KR" smtClean="0"/>
              <a:t>5</a:t>
            </a:r>
            <a:r>
              <a:rPr lang="ko-KR" altLang="en-US" smtClean="0"/>
              <a:t>백</a:t>
            </a:r>
            <a:r>
              <a:rPr lang="en-US" altLang="ko-KR" smtClean="0"/>
              <a:t>) – 125</a:t>
            </a:r>
            <a:r>
              <a:rPr lang="ko-KR" altLang="en-US" smtClean="0"/>
              <a:t>만원 정도</a:t>
            </a:r>
            <a:endParaRPr lang="en-US" altLang="ko-KR" smtClean="0"/>
          </a:p>
          <a:p>
            <a:r>
              <a:rPr lang="ko-KR" altLang="en-US" smtClean="0"/>
              <a:t>기획팀 회의 </a:t>
            </a:r>
            <a:r>
              <a:rPr lang="en-US" altLang="ko-KR"/>
              <a:t>:</a:t>
            </a:r>
            <a:r>
              <a:rPr lang="en-US" altLang="ko-KR" smtClean="0"/>
              <a:t> 10</a:t>
            </a:r>
            <a:r>
              <a:rPr lang="ko-KR" altLang="en-US" smtClean="0"/>
              <a:t>명의 기획자가 </a:t>
            </a:r>
            <a:r>
              <a:rPr lang="en-US" altLang="ko-KR" smtClean="0"/>
              <a:t>1</a:t>
            </a:r>
            <a:r>
              <a:rPr lang="ko-KR" altLang="en-US" smtClean="0"/>
              <a:t>시간 이상 </a:t>
            </a:r>
            <a:r>
              <a:rPr lang="en-US" altLang="ko-KR" smtClean="0"/>
              <a:t>– 20~</a:t>
            </a:r>
          </a:p>
          <a:p>
            <a:r>
              <a:rPr lang="ko-KR" altLang="en-US" smtClean="0"/>
              <a:t>회의에서 픽스되면 기획 담당자</a:t>
            </a:r>
            <a:r>
              <a:rPr lang="en-US" altLang="ko-KR" smtClean="0"/>
              <a:t>2</a:t>
            </a:r>
            <a:r>
              <a:rPr lang="ko-KR" altLang="en-US" smtClean="0"/>
              <a:t>명 정도와 그래픽 담당자 </a:t>
            </a:r>
            <a:r>
              <a:rPr lang="en-US" altLang="ko-KR" smtClean="0"/>
              <a:t>5+1</a:t>
            </a:r>
            <a:r>
              <a:rPr lang="ko-KR" altLang="en-US" smtClean="0"/>
              <a:t>명 정도</a:t>
            </a:r>
            <a:r>
              <a:rPr lang="en-US" altLang="ko-KR" smtClean="0"/>
              <a:t>, </a:t>
            </a:r>
            <a:r>
              <a:rPr lang="ko-KR" altLang="en-US" smtClean="0"/>
              <a:t>총 </a:t>
            </a:r>
            <a:r>
              <a:rPr lang="en-US" altLang="ko-KR" smtClean="0"/>
              <a:t>9</a:t>
            </a:r>
            <a:r>
              <a:rPr lang="ko-KR" altLang="en-US" smtClean="0"/>
              <a:t>명 회의 </a:t>
            </a:r>
            <a:r>
              <a:rPr lang="en-US" altLang="ko-KR" smtClean="0"/>
              <a:t>– 18</a:t>
            </a:r>
            <a:r>
              <a:rPr lang="en-US" altLang="ko-KR"/>
              <a:t>~</a:t>
            </a:r>
            <a:endParaRPr lang="en-US" altLang="ko-KR" smtClean="0"/>
          </a:p>
          <a:p>
            <a:r>
              <a:rPr lang="ko-KR" altLang="en-US" smtClean="0"/>
              <a:t>회의에서 원화가 픽스되면 원화가가 </a:t>
            </a:r>
            <a:r>
              <a:rPr lang="en-US" altLang="ko-KR" smtClean="0"/>
              <a:t>2(1</a:t>
            </a:r>
            <a:r>
              <a:rPr lang="ko-KR" altLang="en-US" smtClean="0"/>
              <a:t>차 결과물</a:t>
            </a:r>
            <a:r>
              <a:rPr lang="en-US" altLang="ko-KR" smtClean="0"/>
              <a:t>)~4</a:t>
            </a:r>
            <a:r>
              <a:rPr lang="ko-KR" altLang="en-US" smtClean="0"/>
              <a:t>주</a:t>
            </a:r>
            <a:r>
              <a:rPr lang="en-US" altLang="ko-KR" smtClean="0"/>
              <a:t>(2</a:t>
            </a:r>
            <a:r>
              <a:rPr lang="ko-KR" altLang="en-US" smtClean="0"/>
              <a:t>차</a:t>
            </a:r>
            <a:r>
              <a:rPr lang="en-US" altLang="ko-KR" smtClean="0"/>
              <a:t>)</a:t>
            </a:r>
            <a:r>
              <a:rPr lang="ko-KR" altLang="en-US" smtClean="0"/>
              <a:t> 작업</a:t>
            </a:r>
            <a:r>
              <a:rPr lang="en-US" altLang="ko-KR" smtClean="0"/>
              <a:t>. 4</a:t>
            </a:r>
            <a:r>
              <a:rPr lang="ko-KR" altLang="en-US" smtClean="0"/>
              <a:t>주라고 치면</a:t>
            </a:r>
            <a:r>
              <a:rPr lang="en-US" altLang="ko-KR" smtClean="0"/>
              <a:t>. 4000 </a:t>
            </a:r>
            <a:r>
              <a:rPr lang="ko-KR" altLang="en-US" smtClean="0"/>
              <a:t>연봉</a:t>
            </a:r>
            <a:r>
              <a:rPr lang="en-US" altLang="ko-KR" smtClean="0"/>
              <a:t>. – 350~</a:t>
            </a:r>
          </a:p>
          <a:p>
            <a:r>
              <a:rPr lang="en-US" altLang="ko-KR" smtClean="0"/>
              <a:t>AD+</a:t>
            </a:r>
            <a:r>
              <a:rPr lang="ko-KR" altLang="en-US" smtClean="0"/>
              <a:t>원화 파트장 </a:t>
            </a:r>
            <a:r>
              <a:rPr lang="en-US" altLang="ko-KR" smtClean="0"/>
              <a:t>1</a:t>
            </a:r>
            <a:r>
              <a:rPr lang="ko-KR" altLang="en-US" smtClean="0"/>
              <a:t>시간 정도 컨펌 </a:t>
            </a:r>
            <a:r>
              <a:rPr lang="en-US" altLang="ko-KR" smtClean="0"/>
              <a:t>– 4~</a:t>
            </a:r>
          </a:p>
          <a:p>
            <a:r>
              <a:rPr lang="ko-KR" altLang="en-US" smtClean="0"/>
              <a:t>픽스됐으면 모델러</a:t>
            </a:r>
            <a:r>
              <a:rPr lang="en-US" altLang="ko-KR" smtClean="0"/>
              <a:t>1+</a:t>
            </a:r>
            <a:r>
              <a:rPr lang="ko-KR" altLang="en-US" smtClean="0"/>
              <a:t>애니메이터</a:t>
            </a:r>
            <a:r>
              <a:rPr lang="en-US" altLang="ko-KR" smtClean="0"/>
              <a:t>2+</a:t>
            </a:r>
            <a:r>
              <a:rPr lang="ko-KR" altLang="en-US" smtClean="0"/>
              <a:t>이펙터</a:t>
            </a:r>
            <a:r>
              <a:rPr lang="en-US" altLang="ko-KR" smtClean="0"/>
              <a:t>1+AD1+</a:t>
            </a:r>
            <a:r>
              <a:rPr lang="ko-KR" altLang="en-US" smtClean="0"/>
              <a:t>담당 원화가</a:t>
            </a:r>
            <a:r>
              <a:rPr lang="en-US" altLang="ko-KR" smtClean="0"/>
              <a:t>1, </a:t>
            </a:r>
            <a:r>
              <a:rPr lang="ko-KR" altLang="en-US" smtClean="0"/>
              <a:t>총 </a:t>
            </a:r>
            <a:r>
              <a:rPr lang="en-US" altLang="ko-KR" smtClean="0"/>
              <a:t>6</a:t>
            </a:r>
            <a:r>
              <a:rPr lang="ko-KR" altLang="en-US" smtClean="0"/>
              <a:t>명 </a:t>
            </a:r>
            <a:r>
              <a:rPr lang="en-US" altLang="ko-KR" smtClean="0"/>
              <a:t>1</a:t>
            </a:r>
            <a:r>
              <a:rPr lang="ko-KR" altLang="en-US" smtClean="0"/>
              <a:t>시간 회의 </a:t>
            </a:r>
            <a:r>
              <a:rPr lang="en-US" altLang="ko-KR" smtClean="0"/>
              <a:t>– 12~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01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하나 만드는 데 드는 비용 산정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smtClean="0"/>
              <a:t>캐릭터 모델러 </a:t>
            </a:r>
            <a:r>
              <a:rPr lang="en-US" altLang="ko-KR" smtClean="0"/>
              <a:t>: 1</a:t>
            </a:r>
            <a:r>
              <a:rPr lang="ko-KR" altLang="en-US" smtClean="0"/>
              <a:t>차 작업본을 </a:t>
            </a:r>
            <a:r>
              <a:rPr lang="en-US" altLang="ko-KR" smtClean="0"/>
              <a:t>2</a:t>
            </a:r>
            <a:r>
              <a:rPr lang="ko-KR" altLang="en-US" smtClean="0"/>
              <a:t>주</a:t>
            </a:r>
            <a:r>
              <a:rPr lang="en-US" altLang="ko-KR" smtClean="0"/>
              <a:t>, </a:t>
            </a:r>
            <a:r>
              <a:rPr lang="ko-KR" altLang="en-US" smtClean="0"/>
              <a:t>아이템이나 의상 등까지 하면 </a:t>
            </a:r>
            <a:r>
              <a:rPr lang="en-US" altLang="ko-KR" smtClean="0"/>
              <a:t>+2</a:t>
            </a:r>
            <a:r>
              <a:rPr lang="ko-KR" altLang="en-US" smtClean="0"/>
              <a:t>주</a:t>
            </a:r>
            <a:r>
              <a:rPr lang="en-US" altLang="ko-KR" smtClean="0"/>
              <a:t>. </a:t>
            </a:r>
            <a:r>
              <a:rPr lang="ko-KR" altLang="en-US" smtClean="0"/>
              <a:t>총 </a:t>
            </a:r>
            <a:r>
              <a:rPr lang="en-US" altLang="ko-KR" smtClean="0"/>
              <a:t>4</a:t>
            </a:r>
            <a:r>
              <a:rPr lang="ko-KR" altLang="en-US" smtClean="0"/>
              <a:t>주 정도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5000. 410~</a:t>
            </a:r>
          </a:p>
          <a:p>
            <a:r>
              <a:rPr lang="ko-KR" altLang="en-US" smtClean="0"/>
              <a:t>애니메이터가 작업을 이어받음</a:t>
            </a:r>
            <a:r>
              <a:rPr lang="en-US" altLang="ko-KR" smtClean="0"/>
              <a:t>. </a:t>
            </a:r>
            <a:r>
              <a:rPr lang="ko-KR" altLang="en-US" smtClean="0"/>
              <a:t>메인과 서브 </a:t>
            </a:r>
            <a:r>
              <a:rPr lang="en-US" altLang="ko-KR" smtClean="0"/>
              <a:t>2</a:t>
            </a:r>
            <a:r>
              <a:rPr lang="ko-KR" altLang="en-US" smtClean="0"/>
              <a:t>명이서 </a:t>
            </a:r>
            <a:r>
              <a:rPr lang="en-US" altLang="ko-KR" smtClean="0"/>
              <a:t>4</a:t>
            </a:r>
            <a:r>
              <a:rPr lang="ko-KR" altLang="en-US" smtClean="0"/>
              <a:t>주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3000~3500. – 250*2 = 500~</a:t>
            </a:r>
          </a:p>
          <a:p>
            <a:r>
              <a:rPr lang="ko-KR" altLang="en-US" smtClean="0"/>
              <a:t>리깅 작업이 어느 정도 진행되면 이펙터 </a:t>
            </a:r>
            <a:r>
              <a:rPr lang="en-US" altLang="ko-KR" smtClean="0"/>
              <a:t>1</a:t>
            </a:r>
            <a:r>
              <a:rPr lang="ko-KR" altLang="en-US" smtClean="0"/>
              <a:t>명이 동시에 붙는다</a:t>
            </a:r>
            <a:r>
              <a:rPr lang="en-US" altLang="ko-KR" smtClean="0"/>
              <a:t>. 2</a:t>
            </a:r>
            <a:r>
              <a:rPr lang="ko-KR" altLang="en-US" smtClean="0"/>
              <a:t>주 작업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4000. – 125~</a:t>
            </a:r>
          </a:p>
          <a:p>
            <a:r>
              <a:rPr lang="ko-KR" altLang="en-US" smtClean="0"/>
              <a:t>이 내용에 대해 설정 기획자가 다시 </a:t>
            </a:r>
            <a:r>
              <a:rPr lang="en-US" altLang="ko-KR" smtClean="0"/>
              <a:t>Game Data </a:t>
            </a:r>
            <a:r>
              <a:rPr lang="ko-KR" altLang="en-US" smtClean="0"/>
              <a:t>셋팅 작업을 </a:t>
            </a:r>
            <a:r>
              <a:rPr lang="en-US" altLang="ko-KR" smtClean="0"/>
              <a:t>1</a:t>
            </a:r>
            <a:r>
              <a:rPr lang="ko-KR" altLang="en-US" smtClean="0"/>
              <a:t>주</a:t>
            </a:r>
            <a:r>
              <a:rPr lang="en-US" altLang="ko-KR" smtClean="0"/>
              <a:t>. – 62~</a:t>
            </a:r>
          </a:p>
          <a:p>
            <a:r>
              <a:rPr lang="ko-KR" altLang="en-US" smtClean="0"/>
              <a:t>전투 시스템 기획자 </a:t>
            </a:r>
            <a:r>
              <a:rPr lang="en-US" altLang="ko-KR" smtClean="0"/>
              <a:t>1</a:t>
            </a:r>
            <a:r>
              <a:rPr lang="ko-KR" altLang="en-US" smtClean="0"/>
              <a:t>명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4000. </a:t>
            </a:r>
            <a:r>
              <a:rPr lang="ko-KR" altLang="en-US" smtClean="0"/>
              <a:t>잘하면 </a:t>
            </a:r>
            <a:r>
              <a:rPr lang="en-US" altLang="ko-KR" smtClean="0"/>
              <a:t>2</a:t>
            </a:r>
            <a:r>
              <a:rPr lang="ko-KR" altLang="en-US" smtClean="0"/>
              <a:t>주</a:t>
            </a:r>
            <a:r>
              <a:rPr lang="en-US" altLang="ko-KR" smtClean="0"/>
              <a:t>. – 125~</a:t>
            </a:r>
          </a:p>
          <a:p>
            <a:r>
              <a:rPr lang="ko-KR" altLang="en-US" smtClean="0"/>
              <a:t>이와 동시에 클라이언트 프로그래머 </a:t>
            </a:r>
            <a:r>
              <a:rPr lang="en-US" altLang="ko-KR" smtClean="0"/>
              <a:t>1</a:t>
            </a:r>
            <a:r>
              <a:rPr lang="ko-KR" altLang="en-US" smtClean="0"/>
              <a:t>명</a:t>
            </a:r>
            <a:r>
              <a:rPr lang="en-US" altLang="ko-KR" smtClean="0"/>
              <a:t>. 4</a:t>
            </a:r>
            <a:r>
              <a:rPr lang="ko-KR" altLang="en-US" smtClean="0"/>
              <a:t>주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3500. – 250~</a:t>
            </a:r>
          </a:p>
          <a:p>
            <a:endParaRPr lang="en-US" altLang="ko-KR"/>
          </a:p>
          <a:p>
            <a:r>
              <a:rPr lang="ko-KR" altLang="en-US" smtClean="0"/>
              <a:t>이 내용대로 하면 캐릭터가 문제없이 등록됨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설정 기획자의 작업 내용으로 동시에 </a:t>
            </a:r>
            <a:r>
              <a:rPr lang="en-US" altLang="ko-KR" smtClean="0"/>
              <a:t>UI </a:t>
            </a:r>
            <a:r>
              <a:rPr lang="ko-KR" altLang="en-US" smtClean="0"/>
              <a:t>디자이너도 붙는다</a:t>
            </a:r>
            <a:r>
              <a:rPr lang="en-US" altLang="ko-KR" smtClean="0"/>
              <a:t>. 1</a:t>
            </a:r>
            <a:r>
              <a:rPr lang="ko-KR" altLang="en-US" smtClean="0"/>
              <a:t>주</a:t>
            </a:r>
            <a:r>
              <a:rPr lang="en-US" altLang="ko-KR" smtClean="0"/>
              <a:t>. </a:t>
            </a:r>
            <a:r>
              <a:rPr lang="ko-KR" altLang="en-US" smtClean="0"/>
              <a:t>연봉 </a:t>
            </a:r>
            <a:r>
              <a:rPr lang="en-US" altLang="ko-KR" smtClean="0"/>
              <a:t>3000 – 50~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67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하나 만드는 데 드는 비용 산정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총 </a:t>
            </a:r>
            <a:r>
              <a:rPr lang="en-US" altLang="ko-KR" smtClean="0"/>
              <a:t>2,051</a:t>
            </a:r>
            <a:r>
              <a:rPr lang="ko-KR" altLang="en-US" smtClean="0"/>
              <a:t>만원 정도</a:t>
            </a:r>
            <a:r>
              <a:rPr lang="en-US" altLang="ko-KR" smtClean="0"/>
              <a:t>. </a:t>
            </a:r>
            <a:r>
              <a:rPr lang="ko-KR" altLang="en-US" smtClean="0"/>
              <a:t>실제로는 이것보다 더 많이 들어간다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애니메이터나 모델러 누구든 리깅 작업하기 싫어하면 외주를 맡김</a:t>
            </a:r>
            <a:r>
              <a:rPr lang="en-US" altLang="ko-KR" smtClean="0"/>
              <a:t>. 20</a:t>
            </a:r>
            <a:r>
              <a:rPr lang="ko-KR" altLang="en-US" smtClean="0"/>
              <a:t>만원 정도</a:t>
            </a:r>
            <a:r>
              <a:rPr lang="en-US" altLang="ko-KR" smtClean="0"/>
              <a:t>. </a:t>
            </a:r>
            <a:r>
              <a:rPr lang="ko-KR" altLang="en-US" smtClean="0"/>
              <a:t>그러면 </a:t>
            </a:r>
            <a:r>
              <a:rPr lang="en-US" altLang="ko-KR" smtClean="0"/>
              <a:t>2,070</a:t>
            </a:r>
            <a:r>
              <a:rPr lang="ko-KR" altLang="en-US" smtClean="0"/>
              <a:t>만원 정도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스토어에서는 저런 캐릭터를 </a:t>
            </a:r>
            <a:r>
              <a:rPr lang="en-US" altLang="ko-KR" smtClean="0"/>
              <a:t>14</a:t>
            </a:r>
            <a:r>
              <a:rPr lang="ko-KR" altLang="en-US" smtClean="0"/>
              <a:t>만 </a:t>
            </a:r>
            <a:r>
              <a:rPr lang="en-US" altLang="ko-KR" smtClean="0"/>
              <a:t>6</a:t>
            </a:r>
            <a:r>
              <a:rPr lang="ko-KR" altLang="en-US" smtClean="0"/>
              <a:t>천원 정도에 살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실제 현업에서 사람들은 이를 간과하고 일정을 각각 </a:t>
            </a:r>
            <a:r>
              <a:rPr lang="en-US" altLang="ko-KR" smtClean="0"/>
              <a:t>1</a:t>
            </a:r>
            <a:r>
              <a:rPr lang="ko-KR" altLang="en-US" smtClean="0"/>
              <a:t>주씩 밀리게 되기 다반사</a:t>
            </a:r>
            <a:r>
              <a:rPr lang="en-US" altLang="ko-KR" smtClean="0"/>
              <a:t>. </a:t>
            </a:r>
            <a:r>
              <a:rPr lang="ko-KR" altLang="en-US" smtClean="0"/>
              <a:t>그러면 개발 비용이 기하급수적으로 늘어남</a:t>
            </a:r>
            <a:r>
              <a:rPr lang="en-US" altLang="ko-KR" smtClean="0"/>
              <a:t>. </a:t>
            </a:r>
            <a:r>
              <a:rPr lang="ko-KR" altLang="en-US" smtClean="0"/>
              <a:t>각각의 사람들은 그냥 월급을 받는다고 생각하니까</a:t>
            </a:r>
            <a:r>
              <a:rPr lang="en-US" altLang="ko-KR" smtClean="0"/>
              <a:t>. </a:t>
            </a:r>
            <a:r>
              <a:rPr lang="ko-KR" altLang="en-US" smtClean="0"/>
              <a:t>혹은 작업물의 퀄리티에만 신경쓴다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PD – </a:t>
            </a:r>
            <a:r>
              <a:rPr lang="ko-KR" altLang="en-US" smtClean="0"/>
              <a:t>개발 비용을 신경써야 하는 사람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3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하나 만드는 데 드는 비용 산정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mtClean="0"/>
              <a:t>PD – </a:t>
            </a:r>
            <a:r>
              <a:rPr lang="ko-KR" altLang="en-US" smtClean="0"/>
              <a:t>개발 비용을 신경써야 하는 사람</a:t>
            </a:r>
            <a:r>
              <a:rPr lang="en-US" altLang="ko-KR" smtClean="0"/>
              <a:t>. </a:t>
            </a:r>
            <a:r>
              <a:rPr lang="ko-KR" altLang="en-US" smtClean="0"/>
              <a:t>따라서 일정 지연 사유를 받아야 하며</a:t>
            </a:r>
            <a:r>
              <a:rPr lang="en-US" altLang="ko-KR" smtClean="0"/>
              <a:t>, </a:t>
            </a:r>
            <a:r>
              <a:rPr lang="ko-KR" altLang="en-US" smtClean="0"/>
              <a:t>일정 관리와 비용을 신경써야 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KPI : </a:t>
            </a:r>
            <a:r>
              <a:rPr lang="ko-KR" altLang="en-US" smtClean="0"/>
              <a:t>회사의</a:t>
            </a:r>
            <a:r>
              <a:rPr lang="en-US" altLang="ko-KR" smtClean="0"/>
              <a:t> </a:t>
            </a:r>
            <a:r>
              <a:rPr lang="ko-KR" altLang="en-US" smtClean="0"/>
              <a:t>올해 사업 목표 </a:t>
            </a:r>
            <a:r>
              <a:rPr lang="en-US" altLang="ko-KR" smtClean="0"/>
              <a:t>/ KBZ</a:t>
            </a:r>
            <a:r>
              <a:rPr lang="ko-KR" altLang="en-US" smtClean="0"/>
              <a:t>는 개인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작업 공정 과정을 파악하고</a:t>
            </a:r>
            <a:r>
              <a:rPr lang="en-US" altLang="ko-KR" smtClean="0"/>
              <a:t>, </a:t>
            </a:r>
            <a:r>
              <a:rPr lang="ko-KR" altLang="en-US" smtClean="0"/>
              <a:t>그 과정에서 팀의 혹은 개인의 어떠한 이유로 어떠한 공정에서 어떠한 문제가 발생할 지를 예측하고</a:t>
            </a:r>
            <a:r>
              <a:rPr lang="en-US" altLang="ko-KR" smtClean="0"/>
              <a:t>, </a:t>
            </a:r>
            <a:r>
              <a:rPr lang="ko-KR" altLang="en-US" smtClean="0"/>
              <a:t>그 문제에 대해 미리 대비하고 있으면 </a:t>
            </a:r>
            <a:r>
              <a:rPr lang="en-US" altLang="ko-KR" smtClean="0"/>
              <a:t>KPI</a:t>
            </a:r>
            <a:r>
              <a:rPr lang="ko-KR" altLang="en-US" smtClean="0"/>
              <a:t>는 </a:t>
            </a:r>
            <a:r>
              <a:rPr lang="en-US" altLang="ko-KR" smtClean="0"/>
              <a:t>S</a:t>
            </a:r>
            <a:r>
              <a:rPr lang="ko-KR" altLang="en-US" smtClean="0"/>
              <a:t>를 받을 수밖에</a:t>
            </a:r>
            <a:r>
              <a:rPr lang="en-US" altLang="ko-KR" smtClean="0"/>
              <a:t>…</a:t>
            </a:r>
          </a:p>
          <a:p>
            <a:endParaRPr lang="en-US" altLang="ko-KR" smtClean="0"/>
          </a:p>
          <a:p>
            <a:r>
              <a:rPr lang="ko-KR" altLang="en-US" smtClean="0"/>
              <a:t>같이 일하는 사람들의 직업군과 개개인의 실력</a:t>
            </a:r>
            <a:r>
              <a:rPr lang="en-US" altLang="ko-KR" smtClean="0"/>
              <a:t>, </a:t>
            </a:r>
            <a:r>
              <a:rPr lang="ko-KR" altLang="en-US" smtClean="0"/>
              <a:t>각 팀의 인원 수</a:t>
            </a:r>
            <a:r>
              <a:rPr lang="en-US" altLang="ko-KR"/>
              <a:t> </a:t>
            </a:r>
            <a:r>
              <a:rPr lang="ko-KR" altLang="en-US" smtClean="0"/>
              <a:t>등</a:t>
            </a:r>
            <a:r>
              <a:rPr lang="en-US" altLang="ko-KR" smtClean="0"/>
              <a:t> </a:t>
            </a:r>
            <a:r>
              <a:rPr lang="ko-KR" altLang="en-US" smtClean="0"/>
              <a:t>제작 공정에 대해서는 알아야 한다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자기 일만 하게 되면 자기 발전도 안 되고</a:t>
            </a:r>
            <a:r>
              <a:rPr lang="en-US" altLang="ko-KR" smtClean="0"/>
              <a:t>, </a:t>
            </a:r>
            <a:r>
              <a:rPr lang="ko-KR" altLang="en-US" smtClean="0"/>
              <a:t>연봉도 그대로</a:t>
            </a:r>
            <a:r>
              <a:rPr lang="en-US" altLang="ko-KR" smtClean="0"/>
              <a:t>…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745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개발자 </a:t>
            </a:r>
            <a:r>
              <a:rPr lang="en-US" altLang="ko-KR" smtClean="0"/>
              <a:t>– </a:t>
            </a:r>
            <a:r>
              <a:rPr lang="ko-KR" altLang="en-US" smtClean="0"/>
              <a:t>실력</a:t>
            </a:r>
            <a:r>
              <a:rPr lang="en-US" altLang="ko-KR" smtClean="0"/>
              <a:t>? </a:t>
            </a:r>
            <a:r>
              <a:rPr lang="ko-KR" altLang="en-US" smtClean="0"/>
              <a:t>인맥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프로는 </a:t>
            </a:r>
            <a:r>
              <a:rPr lang="en-US" altLang="ko-KR" smtClean="0"/>
              <a:t>2</a:t>
            </a:r>
            <a:r>
              <a:rPr lang="ko-KR" altLang="en-US" smtClean="0"/>
              <a:t>가지 중 하나는 해야 한다</a:t>
            </a:r>
            <a:r>
              <a:rPr lang="en-US" altLang="ko-KR" smtClean="0"/>
              <a:t>. </a:t>
            </a:r>
            <a:r>
              <a:rPr lang="ko-KR" altLang="en-US" smtClean="0"/>
              <a:t>둘 다 하면 대박이다ㅋㅋ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기본기를 탄탄하게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실력이 있다면 나는 무한히 발전할 것이다</a:t>
            </a:r>
            <a:r>
              <a:rPr lang="en-US" altLang="ko-KR" smtClean="0"/>
              <a:t>. </a:t>
            </a:r>
            <a:r>
              <a:rPr lang="ko-KR" altLang="en-US" smtClean="0"/>
              <a:t>연봉 또한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선생님은 현재 </a:t>
            </a:r>
            <a:r>
              <a:rPr lang="en-US" altLang="ko-KR" smtClean="0"/>
              <a:t>1.6</a:t>
            </a:r>
            <a:r>
              <a:rPr lang="ko-KR" altLang="en-US" smtClean="0"/>
              <a:t>억</a:t>
            </a:r>
            <a:r>
              <a:rPr lang="en-US" altLang="ko-KR" smtClean="0"/>
              <a:t>! </a:t>
            </a:r>
            <a:r>
              <a:rPr lang="ko-KR" altLang="en-US" smtClean="0"/>
              <a:t>아부 딸랑이 길을 간 사람은 현재 </a:t>
            </a:r>
            <a:r>
              <a:rPr lang="en-US" altLang="ko-KR" smtClean="0"/>
              <a:t>6</a:t>
            </a:r>
            <a:r>
              <a:rPr lang="ko-KR" altLang="en-US" smtClean="0"/>
              <a:t>천</a:t>
            </a:r>
            <a:r>
              <a:rPr lang="en-US" altLang="ko-KR" smtClean="0"/>
              <a:t>500</a:t>
            </a:r>
            <a:r>
              <a:rPr lang="ko-KR" altLang="en-US" smtClean="0"/>
              <a:t>ㅎ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9206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AI</a:t>
            </a:r>
            <a:r>
              <a:rPr lang="ko-KR" altLang="en-US" smtClean="0"/>
              <a:t>를 활용해서 캐릭터 애니메이션까지 셋팅하는 데까지의 비용은 </a:t>
            </a:r>
            <a:r>
              <a:rPr lang="en-US" altLang="ko-KR" smtClean="0"/>
              <a:t>100</a:t>
            </a:r>
            <a:r>
              <a:rPr lang="ko-KR" altLang="en-US" smtClean="0"/>
              <a:t>원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회사에서 캐릭터를 개발하면 </a:t>
            </a:r>
            <a:r>
              <a:rPr lang="en-US" altLang="ko-KR" smtClean="0"/>
              <a:t>2000</a:t>
            </a:r>
            <a:r>
              <a:rPr lang="ko-KR" altLang="en-US" smtClean="0"/>
              <a:t>만원 이상이고</a:t>
            </a:r>
            <a:r>
              <a:rPr lang="en-US" altLang="ko-KR" smtClean="0"/>
              <a:t>, </a:t>
            </a:r>
            <a:r>
              <a:rPr lang="ko-KR" altLang="en-US" smtClean="0"/>
              <a:t>스토어에서는 </a:t>
            </a:r>
            <a:r>
              <a:rPr lang="en-US" altLang="ko-KR" smtClean="0"/>
              <a:t>14</a:t>
            </a:r>
            <a:r>
              <a:rPr lang="ko-KR" altLang="en-US" smtClean="0"/>
              <a:t>만원 정도인데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실제 회사에 들어가면</a:t>
            </a:r>
            <a:r>
              <a:rPr lang="en-US" altLang="ko-KR" smtClean="0"/>
              <a:t>, </a:t>
            </a:r>
            <a:r>
              <a:rPr lang="ko-KR" altLang="en-US" smtClean="0"/>
              <a:t>내 실력이든 인맥이든 등급을 올리면</a:t>
            </a:r>
            <a:r>
              <a:rPr lang="en-US" altLang="ko-KR" smtClean="0"/>
              <a:t>, </a:t>
            </a:r>
            <a:r>
              <a:rPr lang="ko-KR" altLang="en-US" smtClean="0"/>
              <a:t>짤릴 이유가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꾸준하게 내꺼 할 거 하자</a:t>
            </a:r>
            <a:r>
              <a:rPr lang="en-US" altLang="ko-KR" smtClean="0"/>
              <a:t>!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80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0" y="1695208"/>
            <a:ext cx="511563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7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등급 </a:t>
            </a:r>
            <a:r>
              <a:rPr lang="en-US" altLang="ko-KR" smtClean="0"/>
              <a:t>– </a:t>
            </a:r>
            <a:r>
              <a:rPr lang="ko-KR" altLang="en-US" smtClean="0"/>
              <a:t>모든 포지션에서 등급이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전체 영역에서의 등급별 연봉</a:t>
            </a:r>
            <a:endParaRPr lang="en-US" altLang="ko-KR" smtClean="0"/>
          </a:p>
          <a:p>
            <a:r>
              <a:rPr lang="en-US" altLang="ko-KR" smtClean="0"/>
              <a:t>J – </a:t>
            </a:r>
            <a:r>
              <a:rPr lang="ko-KR" altLang="en-US" smtClean="0"/>
              <a:t>주니어 </a:t>
            </a:r>
            <a:r>
              <a:rPr lang="en-US" altLang="ko-KR" smtClean="0"/>
              <a:t>: </a:t>
            </a:r>
            <a:r>
              <a:rPr lang="ko-KR" altLang="en-US" smtClean="0"/>
              <a:t>현업 </a:t>
            </a:r>
            <a:r>
              <a:rPr lang="en-US" altLang="ko-KR" smtClean="0"/>
              <a:t>1~5</a:t>
            </a:r>
            <a:r>
              <a:rPr lang="ko-KR" altLang="en-US" smtClean="0"/>
              <a:t>년차</a:t>
            </a:r>
            <a:endParaRPr lang="en-US" altLang="ko-KR" smtClean="0"/>
          </a:p>
          <a:p>
            <a:pPr lvl="1"/>
            <a:r>
              <a:rPr lang="en-US" altLang="ko-KR" smtClean="0"/>
              <a:t>2600/3</a:t>
            </a:r>
            <a:r>
              <a:rPr lang="ko-KR" altLang="en-US" smtClean="0"/>
              <a:t>천얼마</a:t>
            </a:r>
            <a:r>
              <a:rPr lang="en-US" altLang="ko-KR" smtClean="0"/>
              <a:t>/4</a:t>
            </a:r>
            <a:r>
              <a:rPr lang="ko-KR" altLang="en-US" smtClean="0"/>
              <a:t>천</a:t>
            </a:r>
            <a:r>
              <a:rPr lang="en-US" altLang="ko-KR" smtClean="0"/>
              <a:t>/4.5~6</a:t>
            </a:r>
            <a:endParaRPr lang="en-US" altLang="ko-KR"/>
          </a:p>
          <a:p>
            <a:r>
              <a:rPr lang="ko-KR" altLang="en-US" smtClean="0"/>
              <a:t>팀장 </a:t>
            </a:r>
            <a:r>
              <a:rPr lang="en-US" altLang="ko-KR" smtClean="0"/>
              <a:t>– 3</a:t>
            </a:r>
            <a:r>
              <a:rPr lang="ko-KR" altLang="en-US" smtClean="0"/>
              <a:t>년차 정도 되면 달게 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5</a:t>
            </a:r>
            <a:r>
              <a:rPr lang="ko-KR" altLang="en-US" smtClean="0"/>
              <a:t>년차면 날아다닌다</a:t>
            </a:r>
            <a:r>
              <a:rPr lang="en-US" altLang="ko-KR" smtClean="0"/>
              <a:t>. </a:t>
            </a:r>
            <a:r>
              <a:rPr lang="ko-KR" altLang="en-US" smtClean="0"/>
              <a:t>업계에서 가장 좋아하는 전성기 연차</a:t>
            </a:r>
            <a:r>
              <a:rPr lang="en-US" altLang="ko-KR" smtClean="0"/>
              <a:t>. </a:t>
            </a:r>
            <a:r>
              <a:rPr lang="ko-KR" altLang="en-US" smtClean="0"/>
              <a:t>의욕도 있고</a:t>
            </a:r>
            <a:r>
              <a:rPr lang="en-US" altLang="ko-KR" smtClean="0"/>
              <a:t>, </a:t>
            </a:r>
            <a:r>
              <a:rPr lang="ko-KR" altLang="en-US" smtClean="0"/>
              <a:t>경험도 있고</a:t>
            </a:r>
            <a:r>
              <a:rPr lang="en-US" altLang="ko-KR" smtClean="0"/>
              <a:t>, </a:t>
            </a:r>
            <a:r>
              <a:rPr lang="ko-KR" altLang="en-US" smtClean="0"/>
              <a:t>실력도 있어서</a:t>
            </a:r>
            <a:r>
              <a:rPr lang="en-US" altLang="ko-KR" smtClean="0"/>
              <a:t>. </a:t>
            </a:r>
            <a:r>
              <a:rPr lang="ko-KR" altLang="en-US" smtClean="0"/>
              <a:t>게임잡에서 가장 많이 찾는 연차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이직을 고민한다면</a:t>
            </a:r>
            <a:r>
              <a:rPr lang="en-US" altLang="ko-KR" smtClean="0"/>
              <a:t>, 3</a:t>
            </a:r>
            <a:r>
              <a:rPr lang="ko-KR" altLang="en-US" smtClean="0"/>
              <a:t>년차 때 </a:t>
            </a:r>
            <a:r>
              <a:rPr lang="en-US" altLang="ko-KR" smtClean="0"/>
              <a:t>1</a:t>
            </a:r>
            <a:r>
              <a:rPr lang="ko-KR" altLang="en-US" smtClean="0"/>
              <a:t>번</a:t>
            </a:r>
            <a:r>
              <a:rPr lang="en-US" altLang="ko-KR" smtClean="0"/>
              <a:t>, 5</a:t>
            </a:r>
            <a:r>
              <a:rPr lang="ko-KR" altLang="en-US" smtClean="0"/>
              <a:t>년차 때 </a:t>
            </a:r>
            <a:r>
              <a:rPr lang="en-US" altLang="ko-KR" smtClean="0"/>
              <a:t>1</a:t>
            </a:r>
            <a:r>
              <a:rPr lang="ko-KR" altLang="en-US" smtClean="0"/>
              <a:t>번</a:t>
            </a:r>
            <a:r>
              <a:rPr lang="en-US" altLang="ko-KR"/>
              <a:t> </a:t>
            </a:r>
            <a:r>
              <a:rPr lang="ko-KR" altLang="en-US" smtClean="0"/>
              <a:t>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025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등급 </a:t>
            </a:r>
            <a:r>
              <a:rPr lang="en-US" altLang="ko-KR" smtClean="0"/>
              <a:t>– </a:t>
            </a:r>
            <a:r>
              <a:rPr lang="ko-KR" altLang="en-US" smtClean="0"/>
              <a:t>모든 포지션에서 등급이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smtClean="0"/>
              <a:t>S – </a:t>
            </a:r>
            <a:r>
              <a:rPr lang="ko-KR" altLang="en-US" smtClean="0"/>
              <a:t>시니어 </a:t>
            </a:r>
            <a:r>
              <a:rPr lang="en-US" altLang="ko-KR" smtClean="0"/>
              <a:t>: </a:t>
            </a:r>
            <a:r>
              <a:rPr lang="ko-KR" altLang="en-US" smtClean="0"/>
              <a:t>현업 </a:t>
            </a:r>
            <a:r>
              <a:rPr lang="en-US" altLang="ko-KR" smtClean="0"/>
              <a:t>5~10</a:t>
            </a:r>
            <a:r>
              <a:rPr lang="ko-KR" altLang="en-US" smtClean="0"/>
              <a:t>년차</a:t>
            </a:r>
            <a:endParaRPr lang="en-US" altLang="ko-KR" smtClean="0"/>
          </a:p>
          <a:p>
            <a:pPr lvl="1"/>
            <a:r>
              <a:rPr lang="en-US" altLang="ko-KR" smtClean="0"/>
              <a:t>2600/3</a:t>
            </a:r>
            <a:r>
              <a:rPr lang="ko-KR" altLang="en-US" smtClean="0"/>
              <a:t>천얼마</a:t>
            </a:r>
            <a:r>
              <a:rPr lang="en-US" altLang="ko-KR" smtClean="0"/>
              <a:t>/4</a:t>
            </a:r>
            <a:r>
              <a:rPr lang="ko-KR" altLang="en-US" smtClean="0"/>
              <a:t>천</a:t>
            </a:r>
            <a:r>
              <a:rPr lang="en-US" altLang="ko-KR" smtClean="0"/>
              <a:t>/4.5~6</a:t>
            </a:r>
            <a:endParaRPr lang="en-US" altLang="ko-KR"/>
          </a:p>
          <a:p>
            <a:r>
              <a:rPr lang="ko-KR" altLang="en-US" smtClean="0"/>
              <a:t>문제 </a:t>
            </a:r>
            <a:r>
              <a:rPr lang="en-US" altLang="ko-KR" smtClean="0"/>
              <a:t>: </a:t>
            </a:r>
            <a:r>
              <a:rPr lang="ko-KR" altLang="en-US" smtClean="0"/>
              <a:t>분야별 실력 검증이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기획자 </a:t>
            </a:r>
            <a:r>
              <a:rPr lang="en-US" altLang="ko-KR" smtClean="0"/>
              <a:t>: </a:t>
            </a:r>
            <a:r>
              <a:rPr lang="ko-KR" altLang="en-US" smtClean="0"/>
              <a:t>출시작이 있나</a:t>
            </a:r>
            <a:r>
              <a:rPr lang="en-US" altLang="ko-KR" smtClean="0"/>
              <a:t>? </a:t>
            </a:r>
            <a:r>
              <a:rPr lang="ko-KR" altLang="en-US" smtClean="0"/>
              <a:t>성공작이 있나</a:t>
            </a:r>
            <a:r>
              <a:rPr lang="en-US" altLang="ko-KR" smtClean="0"/>
              <a:t>? </a:t>
            </a:r>
            <a:r>
              <a:rPr lang="ko-KR" altLang="en-US" smtClean="0"/>
              <a:t>가 실력의 척도</a:t>
            </a:r>
            <a:endParaRPr lang="en-US" altLang="ko-KR" smtClean="0"/>
          </a:p>
          <a:p>
            <a:pPr lvl="1"/>
            <a:r>
              <a:rPr lang="ko-KR" altLang="en-US" smtClean="0"/>
              <a:t>누구보다도 게임 타이틀이 중요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프로그래머 </a:t>
            </a:r>
            <a:r>
              <a:rPr lang="en-US" altLang="ko-KR" smtClean="0"/>
              <a:t>: </a:t>
            </a:r>
            <a:r>
              <a:rPr lang="ko-KR" altLang="en-US" smtClean="0"/>
              <a:t>출시작</a:t>
            </a:r>
            <a:r>
              <a:rPr lang="en-US" altLang="ko-KR" smtClean="0"/>
              <a:t>, </a:t>
            </a:r>
            <a:r>
              <a:rPr lang="ko-KR" altLang="en-US" smtClean="0"/>
              <a:t>성공작도 중요</a:t>
            </a:r>
            <a:r>
              <a:rPr lang="en-US" altLang="ko-KR" smtClean="0"/>
              <a:t>. But </a:t>
            </a:r>
            <a:r>
              <a:rPr lang="ko-KR" altLang="en-US" smtClean="0"/>
              <a:t>그게 없더라도</a:t>
            </a:r>
            <a:r>
              <a:rPr lang="en-US" altLang="ko-KR" smtClean="0"/>
              <a:t>, </a:t>
            </a:r>
            <a:r>
              <a:rPr lang="ko-KR" altLang="en-US" smtClean="0"/>
              <a:t>코드 내역 등을 보고 실력만 있다면 가치 있다</a:t>
            </a:r>
            <a:r>
              <a:rPr lang="en-US" altLang="ko-KR" smtClean="0"/>
              <a:t>. </a:t>
            </a:r>
            <a:r>
              <a:rPr lang="ko-KR" altLang="en-US" smtClean="0"/>
              <a:t>그러나 실력이 있어도 </a:t>
            </a:r>
            <a:r>
              <a:rPr lang="en-US" altLang="ko-KR" smtClean="0"/>
              <a:t>10</a:t>
            </a:r>
            <a:r>
              <a:rPr lang="ko-KR" altLang="en-US" smtClean="0"/>
              <a:t>년이 지나도 성공작이든 출식작이든 없다면 문제가 있다고 봄</a:t>
            </a:r>
            <a:endParaRPr lang="en-US" altLang="ko-KR" smtClean="0"/>
          </a:p>
          <a:p>
            <a:r>
              <a:rPr lang="ko-KR" altLang="en-US" smtClean="0"/>
              <a:t>그래픽 </a:t>
            </a:r>
            <a:r>
              <a:rPr lang="en-US" altLang="ko-KR" smtClean="0"/>
              <a:t>: </a:t>
            </a:r>
            <a:r>
              <a:rPr lang="ko-KR" altLang="en-US" smtClean="0"/>
              <a:t>출시작</a:t>
            </a:r>
            <a:r>
              <a:rPr lang="en-US" altLang="ko-KR" smtClean="0"/>
              <a:t>, </a:t>
            </a:r>
            <a:r>
              <a:rPr lang="ko-KR" altLang="en-US" smtClean="0"/>
              <a:t>성공작 없어도 작업물만으로도 실력 검증 가능</a:t>
            </a:r>
            <a:r>
              <a:rPr lang="en-US" altLang="ko-KR" smtClean="0"/>
              <a:t>. 10</a:t>
            </a:r>
            <a:r>
              <a:rPr lang="ko-KR" altLang="en-US" smtClean="0"/>
              <a:t>년 이후도 실력만 갖추면 된다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338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등급 </a:t>
            </a:r>
            <a:r>
              <a:rPr lang="en-US" altLang="ko-KR" smtClean="0"/>
              <a:t>– </a:t>
            </a:r>
            <a:r>
              <a:rPr lang="ko-KR" altLang="en-US" smtClean="0"/>
              <a:t>모든 포지션에서 등급이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기획자는 일단 </a:t>
            </a:r>
            <a:r>
              <a:rPr lang="en-US" altLang="ko-KR" smtClean="0"/>
              <a:t>1</a:t>
            </a:r>
            <a:r>
              <a:rPr lang="ko-KR" altLang="en-US" smtClean="0"/>
              <a:t>년을 채우고</a:t>
            </a:r>
            <a:r>
              <a:rPr lang="en-US" altLang="ko-KR" smtClean="0"/>
              <a:t>, </a:t>
            </a:r>
            <a:r>
              <a:rPr lang="ko-KR" altLang="en-US" smtClean="0"/>
              <a:t>이 팀이 프로젝트를 완성할 지에 대한 전망을 보고</a:t>
            </a:r>
            <a:r>
              <a:rPr lang="en-US" altLang="ko-KR" smtClean="0"/>
              <a:t>, </a:t>
            </a:r>
            <a:r>
              <a:rPr lang="ko-KR" altLang="en-US" smtClean="0"/>
              <a:t>신입 </a:t>
            </a:r>
            <a:r>
              <a:rPr lang="en-US" altLang="ko-KR" smtClean="0"/>
              <a:t>1</a:t>
            </a:r>
            <a:r>
              <a:rPr lang="ko-KR" altLang="en-US" smtClean="0"/>
              <a:t>년차일 때 이직을 고민하는 게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대기업 들어갈 비율</a:t>
            </a:r>
            <a:endParaRPr lang="en-US" altLang="ko-KR" smtClean="0"/>
          </a:p>
          <a:p>
            <a:pPr lvl="1"/>
            <a:r>
              <a:rPr lang="ko-KR" altLang="en-US" smtClean="0"/>
              <a:t>신입 </a:t>
            </a:r>
            <a:r>
              <a:rPr lang="en-US" altLang="ko-KR" smtClean="0"/>
              <a:t>: 5%</a:t>
            </a:r>
          </a:p>
          <a:p>
            <a:pPr lvl="1"/>
            <a:r>
              <a:rPr lang="en-US" altLang="ko-KR" smtClean="0"/>
              <a:t>1</a:t>
            </a:r>
            <a:r>
              <a:rPr lang="ko-KR" altLang="en-US" smtClean="0"/>
              <a:t>년 </a:t>
            </a:r>
            <a:r>
              <a:rPr lang="en-US" altLang="ko-KR" smtClean="0"/>
              <a:t>: 30%</a:t>
            </a:r>
          </a:p>
          <a:p>
            <a:pPr lvl="1"/>
            <a:r>
              <a:rPr lang="en-US" altLang="ko-KR" smtClean="0"/>
              <a:t>3</a:t>
            </a:r>
            <a:r>
              <a:rPr lang="ko-KR" altLang="en-US" smtClean="0"/>
              <a:t>년 </a:t>
            </a:r>
            <a:r>
              <a:rPr lang="en-US" altLang="ko-KR" smtClean="0"/>
              <a:t>: 50%</a:t>
            </a:r>
          </a:p>
          <a:p>
            <a:pPr lvl="1"/>
            <a:r>
              <a:rPr lang="en-US" altLang="ko-KR" smtClean="0"/>
              <a:t>5</a:t>
            </a:r>
            <a:r>
              <a:rPr lang="ko-KR" altLang="en-US" smtClean="0"/>
              <a:t>년 </a:t>
            </a:r>
            <a:r>
              <a:rPr lang="en-US" altLang="ko-KR" smtClean="0"/>
              <a:t>: 70%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56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760" y="718759"/>
            <a:ext cx="3610479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30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게임 업계에서는 아무리 못 받아도 </a:t>
            </a:r>
            <a:r>
              <a:rPr lang="en-US" altLang="ko-KR" smtClean="0"/>
              <a:t>2600 </a:t>
            </a:r>
            <a:r>
              <a:rPr lang="ko-KR" altLang="en-US" smtClean="0"/>
              <a:t>이상부터 시작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3</a:t>
            </a:r>
            <a:r>
              <a:rPr lang="ko-KR" altLang="en-US" smtClean="0"/>
              <a:t>천은 찍는다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연차가 쌓이면 </a:t>
            </a:r>
            <a:r>
              <a:rPr lang="en-US" altLang="ko-KR" smtClean="0"/>
              <a:t>4</a:t>
            </a:r>
            <a:r>
              <a:rPr lang="ko-KR" altLang="en-US" smtClean="0"/>
              <a:t>천</a:t>
            </a:r>
            <a:r>
              <a:rPr lang="en-US" altLang="ko-KR" smtClean="0"/>
              <a:t>, 5</a:t>
            </a:r>
            <a:r>
              <a:rPr lang="ko-KR" altLang="en-US" smtClean="0"/>
              <a:t>천까지 올라간다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6</a:t>
            </a:r>
            <a:r>
              <a:rPr lang="ko-KR" altLang="en-US" smtClean="0"/>
              <a:t>천 이상부터는 실력이나 인맥의 등급이 성장하지 않으면 </a:t>
            </a:r>
            <a:r>
              <a:rPr lang="en-US" altLang="ko-KR" smtClean="0"/>
              <a:t>8</a:t>
            </a:r>
            <a:r>
              <a:rPr lang="ko-KR" altLang="en-US" smtClean="0"/>
              <a:t>천에서 멈춘다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</a:t>
            </a:r>
            <a:r>
              <a:rPr lang="ko-KR" altLang="en-US" smtClean="0"/>
              <a:t>억은 웬만해서 쉽지 않다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</a:t>
            </a:r>
            <a:r>
              <a:rPr lang="ko-KR" altLang="en-US" smtClean="0"/>
              <a:t>억 중반까지는 실력 있다면 달성 가능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572132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사람</a:t>
            </a:r>
            <a:r>
              <a:rPr lang="en-US" altLang="ko-KR" smtClean="0"/>
              <a:t>, </a:t>
            </a:r>
            <a:r>
              <a:rPr lang="ko-KR" altLang="en-US" smtClean="0"/>
              <a:t>일정 등의 매니저로서의 성향으로 성장한다면 </a:t>
            </a:r>
            <a:r>
              <a:rPr lang="en-US" altLang="ko-KR" smtClean="0"/>
              <a:t>‘</a:t>
            </a:r>
            <a:r>
              <a:rPr lang="ko-KR" altLang="en-US" smtClean="0"/>
              <a:t>팀장</a:t>
            </a:r>
            <a:r>
              <a:rPr lang="en-US" altLang="ko-KR" smtClean="0"/>
              <a:t>＇</a:t>
            </a:r>
            <a:r>
              <a:rPr lang="ko-KR" altLang="en-US" smtClean="0"/>
              <a:t>으로 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사람들과의 소통이나 관리 직책이 싫은</a:t>
            </a:r>
            <a:r>
              <a:rPr lang="en-US" altLang="ko-KR" smtClean="0"/>
              <a:t>, </a:t>
            </a:r>
            <a:r>
              <a:rPr lang="ko-KR" altLang="en-US" smtClean="0"/>
              <a:t>자기 일을 열심히 하는 사람들은 </a:t>
            </a:r>
            <a:r>
              <a:rPr lang="en-US" altLang="ko-KR" smtClean="0"/>
              <a:t>‘</a:t>
            </a:r>
            <a:r>
              <a:rPr lang="ko-KR" altLang="en-US" smtClean="0"/>
              <a:t>스페셜리스트</a:t>
            </a:r>
            <a:r>
              <a:rPr lang="en-US" altLang="ko-KR" smtClean="0"/>
              <a:t>＇</a:t>
            </a:r>
            <a:r>
              <a:rPr lang="ko-KR" altLang="en-US" smtClean="0"/>
              <a:t>가 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5</a:t>
            </a:r>
            <a:r>
              <a:rPr lang="ko-KR" altLang="en-US" smtClean="0"/>
              <a:t>년차 이상이 되면 둘 중 하나를 고르거나 회사에서 골라주게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우리가 엄청난 성공작이 있거나</a:t>
            </a:r>
            <a:r>
              <a:rPr lang="en-US" altLang="ko-KR" smtClean="0"/>
              <a:t>, </a:t>
            </a:r>
            <a:r>
              <a:rPr lang="ko-KR" altLang="en-US" smtClean="0"/>
              <a:t>실력이 엄청나다면</a:t>
            </a:r>
            <a:r>
              <a:rPr lang="en-US" altLang="ko-KR" smtClean="0"/>
              <a:t>, </a:t>
            </a:r>
            <a:r>
              <a:rPr lang="ko-KR" altLang="en-US" smtClean="0"/>
              <a:t>인맥 혹은 라인을 잘 잡았다면 </a:t>
            </a:r>
            <a:r>
              <a:rPr lang="en-US" altLang="ko-KR" smtClean="0"/>
              <a:t>‘1</a:t>
            </a:r>
            <a:r>
              <a:rPr lang="ko-KR" altLang="en-US" smtClean="0"/>
              <a:t>억</a:t>
            </a:r>
            <a:r>
              <a:rPr lang="en-US" altLang="ko-KR" smtClean="0"/>
              <a:t>’</a:t>
            </a:r>
            <a:r>
              <a:rPr lang="ko-KR" altLang="en-US" smtClean="0"/>
              <a:t>으로 넘어가게 될 거다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8</a:t>
            </a:r>
            <a:r>
              <a:rPr lang="ko-KR" altLang="en-US" smtClean="0"/>
              <a:t>천까지는 찍게 될 것이다</a:t>
            </a:r>
            <a:r>
              <a:rPr lang="en-US" altLang="ko-KR" smtClean="0"/>
              <a:t>.</a:t>
            </a:r>
            <a:endParaRPr lang="ko-KR" altLang="en-US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4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mtClean="0"/>
              <a:t>1</a:t>
            </a:r>
            <a:r>
              <a:rPr lang="ko-KR" altLang="en-US" smtClean="0"/>
              <a:t>인 개발을 한다면</a:t>
            </a:r>
            <a:r>
              <a:rPr lang="en-US" altLang="ko-KR" smtClean="0"/>
              <a:t>, </a:t>
            </a:r>
            <a:r>
              <a:rPr lang="ko-KR" altLang="en-US" smtClean="0"/>
              <a:t>우리 직업군 역시 의사라는 직업처럼 </a:t>
            </a:r>
            <a:r>
              <a:rPr lang="en-US" altLang="ko-KR" smtClean="0"/>
              <a:t>‘</a:t>
            </a:r>
            <a:r>
              <a:rPr lang="ko-KR" altLang="en-US" smtClean="0"/>
              <a:t>죽을 때까지 할 수 있는 직업</a:t>
            </a:r>
            <a:r>
              <a:rPr lang="en-US" altLang="ko-KR" smtClean="0"/>
              <a:t>＇</a:t>
            </a:r>
            <a:r>
              <a:rPr lang="ko-KR" altLang="en-US" smtClean="0"/>
              <a:t>이 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AI</a:t>
            </a:r>
            <a:r>
              <a:rPr lang="ko-KR" altLang="en-US" smtClean="0"/>
              <a:t>를 끼고 개발을 할 것이기 때문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AI</a:t>
            </a:r>
            <a:r>
              <a:rPr lang="ko-KR" altLang="en-US" smtClean="0"/>
              <a:t>는 필수</a:t>
            </a:r>
            <a:r>
              <a:rPr lang="en-US" altLang="ko-KR" smtClean="0"/>
              <a:t>! </a:t>
            </a:r>
            <a:r>
              <a:rPr lang="ko-KR" altLang="en-US" smtClean="0"/>
              <a:t>반드시 써야 한다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지금은 실력을 키울 때</a:t>
            </a:r>
            <a:r>
              <a:rPr lang="en-US" altLang="ko-KR" smtClean="0"/>
              <a:t>! </a:t>
            </a:r>
            <a:r>
              <a:rPr lang="ko-KR" altLang="en-US" smtClean="0"/>
              <a:t>그 실력이 포트폴리오</a:t>
            </a:r>
            <a:r>
              <a:rPr lang="en-US" altLang="ko-KR" smtClean="0"/>
              <a:t>!(</a:t>
            </a:r>
            <a:r>
              <a:rPr lang="ko-KR" altLang="en-US" smtClean="0"/>
              <a:t>포폴</a:t>
            </a:r>
            <a:r>
              <a:rPr lang="en-US" altLang="ko-KR" smtClean="0"/>
              <a:t>)</a:t>
            </a:r>
          </a:p>
          <a:p>
            <a:endParaRPr lang="en-US" altLang="ko-KR"/>
          </a:p>
          <a:p>
            <a:r>
              <a:rPr lang="ko-KR" altLang="en-US" smtClean="0"/>
              <a:t>그래픽 쪽 </a:t>
            </a:r>
            <a:r>
              <a:rPr lang="en-US" altLang="ko-KR" smtClean="0"/>
              <a:t>: </a:t>
            </a:r>
            <a:r>
              <a:rPr lang="ko-KR" altLang="en-US" smtClean="0"/>
              <a:t>회사에서 과제를 낸다면</a:t>
            </a:r>
            <a:r>
              <a:rPr lang="en-US" altLang="ko-KR" smtClean="0"/>
              <a:t>, </a:t>
            </a:r>
            <a:r>
              <a:rPr lang="ko-KR" altLang="en-US" smtClean="0"/>
              <a:t>그건 </a:t>
            </a:r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’, ‘</a:t>
            </a:r>
            <a:r>
              <a:rPr lang="ko-KR" altLang="en-US" smtClean="0"/>
              <a:t>의도된 방향</a:t>
            </a:r>
            <a:r>
              <a:rPr lang="en-US" altLang="ko-KR" smtClean="0"/>
              <a:t>’</a:t>
            </a:r>
            <a:r>
              <a:rPr lang="ko-KR" altLang="en-US" smtClean="0"/>
              <a:t>에 맞게 결과물을 내야 한다</a:t>
            </a:r>
            <a:r>
              <a:rPr lang="en-US" altLang="ko-KR" smtClean="0"/>
              <a:t>. </a:t>
            </a:r>
            <a:r>
              <a:rPr lang="ko-KR" altLang="en-US" smtClean="0"/>
              <a:t>과제 겸 시험</a:t>
            </a:r>
            <a:endParaRPr lang="en-US" altLang="ko-KR" smtClean="0"/>
          </a:p>
          <a:p>
            <a:r>
              <a:rPr lang="ko-KR" altLang="en-US" smtClean="0"/>
              <a:t>프로그램 쪽 </a:t>
            </a:r>
            <a:r>
              <a:rPr lang="en-US" altLang="ko-KR" smtClean="0"/>
              <a:t>: </a:t>
            </a:r>
            <a:r>
              <a:rPr lang="ko-KR" altLang="en-US" smtClean="0"/>
              <a:t>시험</a:t>
            </a:r>
            <a:endParaRPr lang="en-US" altLang="ko-KR" smtClean="0"/>
          </a:p>
          <a:p>
            <a:r>
              <a:rPr lang="ko-KR" altLang="en-US" smtClean="0"/>
              <a:t>기획 쪽 </a:t>
            </a:r>
            <a:r>
              <a:rPr lang="en-US" altLang="ko-KR" smtClean="0"/>
              <a:t>: </a:t>
            </a:r>
            <a:r>
              <a:rPr lang="ko-KR" altLang="en-US" smtClean="0"/>
              <a:t>시험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나는 기획 쪽으로 갈거니까 </a:t>
            </a:r>
            <a:r>
              <a:rPr lang="en-US" altLang="ko-KR" smtClean="0"/>
              <a:t>‘</a:t>
            </a:r>
            <a:r>
              <a:rPr lang="ko-KR" altLang="en-US" smtClean="0"/>
              <a:t>포폴 </a:t>
            </a:r>
            <a:r>
              <a:rPr lang="en-US" altLang="ko-KR" smtClean="0"/>
              <a:t>+ </a:t>
            </a:r>
            <a:r>
              <a:rPr lang="ko-KR" altLang="en-US" smtClean="0"/>
              <a:t>시험</a:t>
            </a:r>
            <a:r>
              <a:rPr lang="en-US" altLang="ko-KR" smtClean="0"/>
              <a:t>’</a:t>
            </a:r>
            <a:r>
              <a:rPr lang="ko-KR" altLang="en-US" smtClean="0"/>
              <a:t>을 준비하자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게임 업계는 내가 꾸준하게 하면 </a:t>
            </a:r>
            <a:r>
              <a:rPr lang="en-US" altLang="ko-KR" smtClean="0"/>
              <a:t>5</a:t>
            </a:r>
            <a:r>
              <a:rPr lang="ko-KR" altLang="en-US" smtClean="0"/>
              <a:t>천 연봉은 넘게 돼있다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783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471074"/>
            <a:ext cx="8888065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2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내일부터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원화 디자이너로서 실습을 하게 될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쿠팡같은 데서 타블렛</a:t>
            </a:r>
            <a:endParaRPr lang="en-US" altLang="ko-KR" smtClean="0"/>
          </a:p>
          <a:p>
            <a:r>
              <a:rPr lang="ko-KR" altLang="en-US" smtClean="0"/>
              <a:t>엑스피펜</a:t>
            </a:r>
            <a:r>
              <a:rPr lang="en-US" altLang="ko-KR" smtClean="0"/>
              <a:t>, </a:t>
            </a:r>
            <a:r>
              <a:rPr lang="ko-KR" altLang="en-US" smtClean="0"/>
              <a:t>와콤 같은 </a:t>
            </a:r>
            <a:r>
              <a:rPr lang="en-US" altLang="ko-KR" smtClean="0"/>
              <a:t>5</a:t>
            </a:r>
            <a:r>
              <a:rPr lang="ko-KR" altLang="en-US" smtClean="0"/>
              <a:t>만원 전후의 펜으로 그릴 수 있는 판 준비해오기</a:t>
            </a:r>
            <a:r>
              <a:rPr lang="en-US" altLang="ko-KR" smtClean="0"/>
              <a:t>. 10</a:t>
            </a:r>
            <a:r>
              <a:rPr lang="ko-KR" altLang="en-US" smtClean="0"/>
              <a:t>만원대까지는 필요없음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내일 당장은 필요없으나</a:t>
            </a:r>
            <a:r>
              <a:rPr lang="en-US" altLang="ko-KR" smtClean="0"/>
              <a:t>, </a:t>
            </a:r>
            <a:r>
              <a:rPr lang="ko-KR" altLang="en-US" smtClean="0"/>
              <a:t>금요일까지는</a:t>
            </a:r>
            <a:r>
              <a:rPr lang="en-US" altLang="ko-KR" smtClean="0"/>
              <a:t> </a:t>
            </a:r>
            <a:r>
              <a:rPr lang="ko-KR" altLang="en-US" smtClean="0"/>
              <a:t>준비하자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25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1092</Words>
  <Application>Microsoft Office PowerPoint</Application>
  <PresentationFormat>와이드스크린</PresentationFormat>
  <Paragraphs>113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스토어를 아이 쇼핑해서 리소스의 가치Value 척도를 알아보자 – 습관 만들기</vt:lpstr>
      <vt:lpstr>캐릭터 하나 만드는 데 드는 비용 산정</vt:lpstr>
      <vt:lpstr>캐릭터 하나 만드는 데 드는 비용 산정</vt:lpstr>
      <vt:lpstr>캐릭터 하나 만드는 데 드는 비용 산정</vt:lpstr>
      <vt:lpstr>캐릭터 하나 만드는 데 드는 비용 산정</vt:lpstr>
      <vt:lpstr>개발자 – 실력? 인맥?</vt:lpstr>
      <vt:lpstr>AI</vt:lpstr>
      <vt:lpstr>PowerPoint 프레젠테이션</vt:lpstr>
      <vt:lpstr>등급 – 모든 포지션에서 등급이 있다.</vt:lpstr>
      <vt:lpstr>등급 – 모든 포지션에서 등급이 있다.</vt:lpstr>
      <vt:lpstr>등급 – 모든 포지션에서 등급이 있다.</vt:lpstr>
      <vt:lpstr>PowerPoint 프레젠테이션</vt:lpstr>
      <vt:lpstr>연봉</vt:lpstr>
      <vt:lpstr>연봉</vt:lpstr>
      <vt:lpstr>연봉</vt:lpstr>
      <vt:lpstr>PowerPoint 프레젠테이션</vt:lpstr>
      <vt:lpstr>내일부터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2026-02-11T04:57:38Z</dcterms:created>
  <dcterms:modified xsi:type="dcterms:W3CDTF">2026-02-11T06:49:03Z</dcterms:modified>
</cp:coreProperties>
</file>