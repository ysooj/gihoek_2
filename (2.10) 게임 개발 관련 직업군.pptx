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8" autoAdjust="0"/>
    <p:restoredTop sz="94660"/>
  </p:normalViewPr>
  <p:slideViewPr>
    <p:cSldViewPr snapToGrid="0">
      <p:cViewPr varScale="1">
        <p:scale>
          <a:sx n="47" d="100"/>
          <a:sy n="47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54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6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43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07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5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91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28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4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62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0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E1BC9-2C8C-473F-93F3-DD0BA79580E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C8F58-0C4E-4809-AD53-D76A54043C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30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5532436"/>
          </a:xfrm>
        </p:spPr>
        <p:txBody>
          <a:bodyPr>
            <a:normAutofit/>
          </a:bodyPr>
          <a:lstStyle/>
          <a:p>
            <a:r>
              <a:rPr lang="ko-KR" altLang="en-US" smtClean="0"/>
              <a:t>제작 공정 </a:t>
            </a:r>
            <a:r>
              <a:rPr lang="en-US" altLang="ko-KR" smtClean="0"/>
              <a:t>: </a:t>
            </a:r>
            <a:r>
              <a:rPr lang="ko-KR" altLang="en-US" smtClean="0"/>
              <a:t>게임 개발을 의미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게임 개발에 대한 직업군</a:t>
            </a:r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1. ‘</a:t>
            </a:r>
            <a:r>
              <a:rPr lang="ko-KR" altLang="en-US" smtClean="0"/>
              <a:t>그래픽</a:t>
            </a:r>
            <a:r>
              <a:rPr lang="en-US" altLang="ko-KR" smtClean="0"/>
              <a:t>’ </a:t>
            </a:r>
            <a:r>
              <a:rPr lang="ko-KR" altLang="en-US" smtClean="0"/>
              <a:t>관련 </a:t>
            </a:r>
            <a:r>
              <a:rPr lang="en-US" altLang="ko-KR" smtClean="0"/>
              <a:t>5</a:t>
            </a:r>
            <a:r>
              <a:rPr lang="ko-KR" altLang="en-US" smtClean="0"/>
              <a:t>가지 직업군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원화</a:t>
            </a:r>
            <a:r>
              <a:rPr lang="en-US" altLang="ko-KR" smtClean="0"/>
              <a:t>(2D)</a:t>
            </a:r>
            <a:r>
              <a:rPr lang="ko-KR" altLang="en-US" smtClean="0"/>
              <a:t> </a:t>
            </a:r>
            <a:r>
              <a:rPr lang="en-US" altLang="ko-KR" smtClean="0"/>
              <a:t>(</a:t>
            </a:r>
            <a:r>
              <a:rPr lang="ko-KR" altLang="en-US" smtClean="0"/>
              <a:t>캐릭터 </a:t>
            </a:r>
            <a:r>
              <a:rPr lang="en-US" altLang="ko-KR" smtClean="0"/>
              <a:t>/ </a:t>
            </a:r>
            <a:r>
              <a:rPr lang="ko-KR" altLang="en-US" smtClean="0"/>
              <a:t>배경</a:t>
            </a:r>
            <a:r>
              <a:rPr lang="en-US" altLang="ko-KR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모델러</a:t>
            </a:r>
            <a:r>
              <a:rPr lang="en-US" altLang="ko-KR" smtClean="0"/>
              <a:t>(3D) (</a:t>
            </a:r>
            <a:r>
              <a:rPr lang="ko-KR" altLang="en-US" smtClean="0"/>
              <a:t>캐릭터 </a:t>
            </a:r>
            <a:r>
              <a:rPr lang="en-US" altLang="ko-KR" smtClean="0"/>
              <a:t>/ </a:t>
            </a:r>
            <a:r>
              <a:rPr lang="ko-KR" altLang="en-US" smtClean="0"/>
              <a:t>배경</a:t>
            </a:r>
            <a:r>
              <a:rPr lang="en-US" altLang="ko-KR" smtClean="0"/>
              <a:t>)</a:t>
            </a:r>
            <a:r>
              <a:rPr lang="ko-KR" altLang="en-US" smtClean="0"/>
              <a:t> 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애니메이터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이펙터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UI </a:t>
            </a:r>
            <a:r>
              <a:rPr lang="ko-KR" altLang="en-US" smtClean="0"/>
              <a:t>디자이너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endParaRPr lang="ko-KR" altLang="en-US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제작 공정의 이해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85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smtClean="0"/>
              <a:t>제작 공정의 이해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5532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2. ‘</a:t>
            </a:r>
            <a:r>
              <a:rPr lang="ko-KR" altLang="en-US" smtClean="0"/>
              <a:t>프로그램</a:t>
            </a:r>
            <a:r>
              <a:rPr lang="en-US" altLang="ko-KR" smtClean="0"/>
              <a:t>’ </a:t>
            </a:r>
            <a:r>
              <a:rPr lang="ko-KR" altLang="en-US" smtClean="0"/>
              <a:t>관련 </a:t>
            </a:r>
            <a:r>
              <a:rPr lang="en-US" altLang="ko-KR"/>
              <a:t>3</a:t>
            </a:r>
            <a:r>
              <a:rPr lang="ko-KR" altLang="en-US" smtClean="0"/>
              <a:t>가지 직업군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클라이언트 프로그램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서버 프로그램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게임 엔진 프로그램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3. </a:t>
            </a:r>
            <a:r>
              <a:rPr lang="en-US" altLang="ko-KR"/>
              <a:t>‘</a:t>
            </a:r>
            <a:r>
              <a:rPr lang="ko-KR" altLang="en-US"/>
              <a:t>게임 디자이너 </a:t>
            </a:r>
            <a:r>
              <a:rPr lang="en-US" altLang="ko-KR"/>
              <a:t>(</a:t>
            </a:r>
            <a:r>
              <a:rPr lang="ko-KR" altLang="en-US"/>
              <a:t>기획자</a:t>
            </a:r>
            <a:r>
              <a:rPr lang="en-US" altLang="ko-KR"/>
              <a:t>)’ </a:t>
            </a:r>
            <a:r>
              <a:rPr lang="ko-KR" altLang="en-US"/>
              <a:t>관련 </a:t>
            </a:r>
            <a:r>
              <a:rPr lang="en-US" altLang="ko-KR"/>
              <a:t>7</a:t>
            </a:r>
            <a:r>
              <a:rPr lang="ko-KR" altLang="en-US"/>
              <a:t>가지 직업군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시나리오 담당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설정 담당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레벨 담당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퀘스트 담당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  <a:tabLst>
                <a:tab pos="4937125" algn="l"/>
              </a:tabLst>
            </a:pPr>
            <a:r>
              <a:rPr lang="ko-KR" altLang="en-US"/>
              <a:t>밸런스 담당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시스템 담당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커뮤니티 담당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4572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940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팀 구성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mtClean="0"/>
              <a:t>팀장 </a:t>
            </a:r>
            <a:r>
              <a:rPr lang="en-US" altLang="ko-KR" smtClean="0"/>
              <a:t>: </a:t>
            </a:r>
            <a:r>
              <a:rPr lang="ko-KR" altLang="en-US" smtClean="0"/>
              <a:t>각 파트별 혹은 개발팀장 등</a:t>
            </a:r>
            <a:endParaRPr lang="en-US" altLang="ko-KR" smtClean="0"/>
          </a:p>
          <a:p>
            <a:r>
              <a:rPr lang="ko-KR" altLang="en-US" smtClean="0"/>
              <a:t>파트장 </a:t>
            </a:r>
            <a:r>
              <a:rPr lang="en-US" altLang="ko-KR" smtClean="0"/>
              <a:t>: </a:t>
            </a:r>
            <a:r>
              <a:rPr lang="ko-KR" altLang="en-US" smtClean="0"/>
              <a:t>소통을 원활하게 하기 위해</a:t>
            </a:r>
            <a:r>
              <a:rPr lang="en-US" altLang="ko-KR" smtClean="0"/>
              <a:t>. </a:t>
            </a:r>
            <a:r>
              <a:rPr lang="ko-KR" altLang="en-US" smtClean="0"/>
              <a:t>팀 구성이 </a:t>
            </a:r>
            <a:r>
              <a:rPr lang="en-US" altLang="ko-KR" smtClean="0"/>
              <a:t>2</a:t>
            </a:r>
            <a:r>
              <a:rPr lang="ko-KR" altLang="en-US" smtClean="0"/>
              <a:t>인 이상일 때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게임 디자인 직군은 모든 파트가 톱니바퀴처럼 긴밀하게 연결되어 있어서 각각의 파트를 직업군으로 나누는 게 아닌</a:t>
            </a:r>
            <a:r>
              <a:rPr lang="en-US" altLang="ko-KR" smtClean="0"/>
              <a:t>, ‘</a:t>
            </a:r>
            <a:r>
              <a:rPr lang="ko-KR" altLang="en-US" smtClean="0"/>
              <a:t>담당</a:t>
            </a:r>
            <a:r>
              <a:rPr lang="en-US" altLang="ko-KR" smtClean="0"/>
              <a:t>’</a:t>
            </a:r>
            <a:r>
              <a:rPr lang="ko-KR" altLang="en-US" smtClean="0"/>
              <a:t>이라고 하는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프로그램 영역에서의 최고 수장 </a:t>
            </a:r>
            <a:r>
              <a:rPr lang="en-US" altLang="ko-KR" smtClean="0"/>
              <a:t>: TD(</a:t>
            </a:r>
            <a:r>
              <a:rPr lang="ko-KR" altLang="en-US" smtClean="0"/>
              <a:t>테크니컬 디렉터</a:t>
            </a:r>
            <a:r>
              <a:rPr lang="en-US" altLang="ko-KR" smtClean="0"/>
              <a:t>) – </a:t>
            </a:r>
            <a:r>
              <a:rPr lang="ko-KR" altLang="en-US" smtClean="0"/>
              <a:t>기술적인 방향성을 잡아주는 사람</a:t>
            </a:r>
            <a:r>
              <a:rPr lang="en-US" altLang="ko-KR" smtClean="0"/>
              <a:t>. </a:t>
            </a:r>
            <a:r>
              <a:rPr lang="ko-KR" altLang="en-US" smtClean="0"/>
              <a:t>이 사람이 구현 못한다고 하면 그 팀은 그 기술을 구현 못함</a:t>
            </a:r>
            <a:r>
              <a:rPr lang="en-US" altLang="ko-KR" smtClean="0"/>
              <a:t>. </a:t>
            </a:r>
            <a:r>
              <a:rPr lang="ko-KR" altLang="en-US" smtClean="0"/>
              <a:t>대부분은 엔진 프로그래머가 </a:t>
            </a:r>
            <a:r>
              <a:rPr lang="en-US" altLang="ko-KR" smtClean="0"/>
              <a:t>TD</a:t>
            </a:r>
            <a:r>
              <a:rPr lang="ko-KR" altLang="en-US" smtClean="0"/>
              <a:t>가 될 가능성이 높음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87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팀 구성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smtClean="0"/>
              <a:t>그래픽 직업군에서 최고 수장 </a:t>
            </a:r>
            <a:r>
              <a:rPr lang="en-US" altLang="ko-KR" smtClean="0"/>
              <a:t>: AD(</a:t>
            </a:r>
            <a:r>
              <a:rPr lang="ko-KR" altLang="en-US" smtClean="0"/>
              <a:t>아트 디렉터</a:t>
            </a:r>
            <a:r>
              <a:rPr lang="en-US" altLang="ko-KR" smtClean="0"/>
              <a:t>). </a:t>
            </a:r>
            <a:r>
              <a:rPr lang="ko-KR" altLang="en-US" smtClean="0"/>
              <a:t>그 스타일 우리와 맞지 않는다고 하면 안 하는 것</a:t>
            </a:r>
            <a:r>
              <a:rPr lang="en-US" altLang="ko-KR" smtClean="0"/>
              <a:t>. </a:t>
            </a:r>
            <a:r>
              <a:rPr lang="ko-KR" altLang="en-US" smtClean="0"/>
              <a:t>그래야 팀이 돌아간다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게임 디자이너 직군에서 리더는 </a:t>
            </a:r>
            <a:r>
              <a:rPr lang="en-US" altLang="ko-KR" smtClean="0"/>
              <a:t>(</a:t>
            </a:r>
            <a:r>
              <a:rPr lang="ko-KR" altLang="en-US" smtClean="0"/>
              <a:t>생소하지만</a:t>
            </a:r>
            <a:r>
              <a:rPr lang="en-US" altLang="ko-KR" smtClean="0"/>
              <a:t>) CD(</a:t>
            </a:r>
            <a:r>
              <a:rPr lang="ko-KR" altLang="en-US" smtClean="0"/>
              <a:t>크리에이티브 디렉터</a:t>
            </a:r>
            <a:r>
              <a:rPr lang="en-US" altLang="ko-KR" smtClean="0"/>
              <a:t>)</a:t>
            </a:r>
            <a:r>
              <a:rPr lang="ko-KR" altLang="en-US" smtClean="0"/>
              <a:t>라고 한다</a:t>
            </a:r>
            <a:r>
              <a:rPr lang="en-US" altLang="ko-KR" smtClean="0"/>
              <a:t>. </a:t>
            </a:r>
            <a:r>
              <a:rPr lang="ko-KR" altLang="en-US" smtClean="0"/>
              <a:t>국내에는 </a:t>
            </a:r>
            <a:r>
              <a:rPr lang="en-US" altLang="ko-KR" smtClean="0"/>
              <a:t>CD</a:t>
            </a:r>
            <a:r>
              <a:rPr lang="ko-KR" altLang="en-US" smtClean="0"/>
              <a:t>가 다 실패해서 별로 중요하지 않은 포지션임</a:t>
            </a:r>
            <a:r>
              <a:rPr lang="en-US" altLang="ko-KR" smtClean="0"/>
              <a:t>…</a:t>
            </a:r>
            <a:r>
              <a:rPr lang="ko-KR" altLang="en-US" smtClean="0"/>
              <a:t>ㅎㅠ</a:t>
            </a:r>
            <a:r>
              <a:rPr lang="en-US" altLang="ko-KR" smtClean="0"/>
              <a:t>. PD(</a:t>
            </a:r>
            <a:r>
              <a:rPr lang="ko-KR" altLang="en-US" smtClean="0"/>
              <a:t>프로덕트</a:t>
            </a:r>
            <a:r>
              <a:rPr lang="en-US" altLang="ko-KR" smtClean="0"/>
              <a:t>/</a:t>
            </a:r>
            <a:r>
              <a:rPr lang="ko-KR" altLang="en-US" smtClean="0"/>
              <a:t>프로젝트 디렉터</a:t>
            </a:r>
            <a:r>
              <a:rPr lang="en-US" altLang="ko-KR" smtClean="0"/>
              <a:t>)</a:t>
            </a:r>
            <a:r>
              <a:rPr lang="ko-KR" altLang="en-US" smtClean="0"/>
              <a:t>가 수장 역할을 한다</a:t>
            </a:r>
            <a:r>
              <a:rPr lang="en-US" altLang="ko-KR" smtClean="0"/>
              <a:t>. </a:t>
            </a:r>
            <a:r>
              <a:rPr lang="ko-KR" altLang="en-US" smtClean="0"/>
              <a:t>이 </a:t>
            </a:r>
            <a:r>
              <a:rPr lang="en-US" altLang="ko-KR" smtClean="0"/>
              <a:t>PD</a:t>
            </a:r>
            <a:r>
              <a:rPr lang="ko-KR" altLang="en-US" smtClean="0"/>
              <a:t>는 </a:t>
            </a:r>
            <a:r>
              <a:rPr lang="en-US" altLang="ko-KR" smtClean="0"/>
              <a:t>TD</a:t>
            </a:r>
            <a:r>
              <a:rPr lang="ko-KR" altLang="en-US" smtClean="0"/>
              <a:t>나 </a:t>
            </a:r>
            <a:r>
              <a:rPr lang="en-US" altLang="ko-KR" smtClean="0"/>
              <a:t>AD</a:t>
            </a:r>
            <a:r>
              <a:rPr lang="ko-KR" altLang="en-US" smtClean="0"/>
              <a:t>가 할 수도 있다</a:t>
            </a:r>
            <a:r>
              <a:rPr lang="en-US" altLang="ko-KR" smtClean="0"/>
              <a:t>. </a:t>
            </a:r>
            <a:r>
              <a:rPr lang="ko-KR" altLang="en-US" smtClean="0"/>
              <a:t>총괄 책임자같은 느낌이다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PD</a:t>
            </a:r>
            <a:r>
              <a:rPr lang="ko-KR" altLang="en-US" smtClean="0"/>
              <a:t>는 재미</a:t>
            </a:r>
            <a:r>
              <a:rPr lang="en-US" altLang="ko-KR" smtClean="0"/>
              <a:t>, </a:t>
            </a:r>
            <a:r>
              <a:rPr lang="ko-KR" altLang="en-US" smtClean="0"/>
              <a:t>수익과 같은 성공을 위한 방향과 일정을 정하는 사람</a:t>
            </a:r>
            <a:r>
              <a:rPr lang="en-US" altLang="ko-KR" smtClean="0"/>
              <a:t>. </a:t>
            </a:r>
            <a:r>
              <a:rPr lang="ko-KR" altLang="en-US" smtClean="0"/>
              <a:t>프로그램에 대한 최종 결정권을 가진 사람</a:t>
            </a:r>
            <a:r>
              <a:rPr lang="en-US" altLang="ko-KR" smtClean="0"/>
              <a:t>. </a:t>
            </a:r>
            <a:r>
              <a:rPr lang="ko-KR" altLang="en-US" smtClean="0"/>
              <a:t>게임 제작의 전체 감독</a:t>
            </a:r>
            <a:r>
              <a:rPr lang="en-US" altLang="ko-KR" smtClean="0"/>
              <a:t>/</a:t>
            </a:r>
            <a:r>
              <a:rPr lang="ko-KR" altLang="en-US" smtClean="0"/>
              <a:t>책임자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그러나 각 영역 안에서 </a:t>
            </a:r>
            <a:r>
              <a:rPr lang="en-US" altLang="ko-KR" smtClean="0"/>
              <a:t>AD(</a:t>
            </a:r>
            <a:r>
              <a:rPr lang="ko-KR" altLang="en-US" smtClean="0"/>
              <a:t>그래픽 스타일</a:t>
            </a:r>
            <a:r>
              <a:rPr lang="en-US" altLang="ko-KR" smtClean="0"/>
              <a:t>), TD(</a:t>
            </a:r>
            <a:r>
              <a:rPr lang="ko-KR" altLang="en-US" smtClean="0"/>
              <a:t>구현</a:t>
            </a:r>
            <a:r>
              <a:rPr lang="en-US" altLang="ko-KR" smtClean="0"/>
              <a:t>), PD(</a:t>
            </a:r>
            <a:r>
              <a:rPr lang="ko-KR" altLang="en-US" smtClean="0"/>
              <a:t>재미</a:t>
            </a:r>
            <a:r>
              <a:rPr lang="en-US" altLang="ko-KR" smtClean="0"/>
              <a:t>, </a:t>
            </a:r>
            <a:r>
              <a:rPr lang="ko-KR" altLang="en-US" smtClean="0"/>
              <a:t>수익</a:t>
            </a:r>
            <a:r>
              <a:rPr lang="en-US" altLang="ko-KR" smtClean="0"/>
              <a:t>)</a:t>
            </a:r>
            <a:r>
              <a:rPr lang="ko-KR" altLang="en-US" smtClean="0"/>
              <a:t>에 대한 책임은 이들이 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22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유관 부서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게임을 개발할 때 개발만 있는 것이 아님</a:t>
            </a:r>
            <a:r>
              <a:rPr lang="en-US" altLang="ko-KR" smtClean="0"/>
              <a:t>. </a:t>
            </a:r>
            <a:r>
              <a:rPr lang="ko-KR" altLang="en-US" smtClean="0"/>
              <a:t>게임 개발과 직접적으로 연관있는 부서들이 있다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en-US" altLang="ko-KR" smtClean="0"/>
              <a:t>QA : </a:t>
            </a:r>
            <a:r>
              <a:rPr lang="ko-KR" altLang="en-US" smtClean="0"/>
              <a:t>퀄리티 어슈어런스</a:t>
            </a:r>
            <a:r>
              <a:rPr lang="en-US" altLang="ko-KR" smtClean="0"/>
              <a:t>(</a:t>
            </a:r>
            <a:r>
              <a:rPr lang="ko-KR" altLang="en-US" smtClean="0"/>
              <a:t>품질 보증</a:t>
            </a:r>
            <a:r>
              <a:rPr lang="en-US" altLang="ko-KR" smtClean="0"/>
              <a:t>). </a:t>
            </a:r>
            <a:r>
              <a:rPr lang="ko-KR" altLang="en-US" smtClean="0"/>
              <a:t>모든 영역의 작업물들에 대한 테스트를 해준다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Fun_QA : </a:t>
            </a:r>
            <a:r>
              <a:rPr lang="ko-KR" altLang="en-US" smtClean="0"/>
              <a:t>재미를 보증해주는 사람들</a:t>
            </a:r>
            <a:r>
              <a:rPr lang="en-US" altLang="ko-KR" smtClean="0"/>
              <a:t>. </a:t>
            </a:r>
            <a:r>
              <a:rPr lang="ko-KR" altLang="en-US" smtClean="0"/>
              <a:t>게임이 재미없으면 기획과 이 사람들 때문이다 ㅎㅎ</a:t>
            </a:r>
            <a:endParaRPr lang="en-US" altLang="ko-KR" smtClean="0"/>
          </a:p>
          <a:p>
            <a:r>
              <a:rPr lang="ko-KR" altLang="en-US" smtClean="0"/>
              <a:t>구현상 오류가 많으면 프로그래머가</a:t>
            </a:r>
            <a:r>
              <a:rPr lang="en-US" altLang="ko-KR" smtClean="0"/>
              <a:t>, </a:t>
            </a:r>
            <a:r>
              <a:rPr lang="ko-KR" altLang="en-US" smtClean="0"/>
              <a:t>스타일 상 혹은 디자인에 오류가 있으면 그래픽 디자이너가 책임지는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31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유관 부서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PM – </a:t>
            </a:r>
            <a:r>
              <a:rPr lang="ko-KR" altLang="en-US" smtClean="0"/>
              <a:t>프로젝트 매니저</a:t>
            </a:r>
            <a:r>
              <a:rPr lang="en-US" altLang="ko-KR" smtClean="0"/>
              <a:t>(</a:t>
            </a:r>
            <a:r>
              <a:rPr lang="ko-KR" altLang="en-US" smtClean="0"/>
              <a:t>일정 관리</a:t>
            </a:r>
            <a:r>
              <a:rPr lang="en-US" altLang="ko-KR" smtClean="0"/>
              <a:t>, </a:t>
            </a:r>
            <a:r>
              <a:rPr lang="ko-KR" altLang="en-US" smtClean="0"/>
              <a:t>소통 관리를</a:t>
            </a:r>
            <a:r>
              <a:rPr lang="en-US" altLang="ko-KR"/>
              <a:t> </a:t>
            </a:r>
            <a:r>
              <a:rPr lang="ko-KR" altLang="en-US" smtClean="0"/>
              <a:t>지원</a:t>
            </a:r>
            <a:r>
              <a:rPr lang="en-US" altLang="ko-KR" smtClean="0"/>
              <a:t>) : </a:t>
            </a:r>
            <a:r>
              <a:rPr lang="ko-KR" altLang="en-US" smtClean="0"/>
              <a:t>각각의 직업군들이 일정</a:t>
            </a:r>
            <a:r>
              <a:rPr lang="en-US" altLang="ko-KR" smtClean="0"/>
              <a:t>, </a:t>
            </a:r>
            <a:r>
              <a:rPr lang="ko-KR" altLang="en-US" smtClean="0"/>
              <a:t>작업물 믹스매치 등에 대한 소통에 대해 관리하는 사람들</a:t>
            </a:r>
            <a:endParaRPr lang="en-US" altLang="ko-KR" smtClean="0"/>
          </a:p>
          <a:p>
            <a:r>
              <a:rPr lang="en-US" altLang="ko-KR" smtClean="0"/>
              <a:t>CM – PM </a:t>
            </a:r>
            <a:r>
              <a:rPr lang="ko-KR" altLang="en-US" smtClean="0"/>
              <a:t>밑의 직업군</a:t>
            </a:r>
            <a:r>
              <a:rPr lang="en-US" altLang="ko-KR" smtClean="0"/>
              <a:t>. </a:t>
            </a:r>
            <a:r>
              <a:rPr lang="ko-KR" altLang="en-US" smtClean="0"/>
              <a:t>커뮤니케이션 매니저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4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개발쪽과 관련됐지만 필수는 아닌 직업군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시네마틱 디자이너 </a:t>
            </a:r>
            <a:r>
              <a:rPr lang="en-US" altLang="ko-KR" smtClean="0"/>
              <a:t>: </a:t>
            </a:r>
            <a:r>
              <a:rPr lang="ko-KR" altLang="en-US" smtClean="0"/>
              <a:t>영화를 보는 것처럼 컷 씬 작업</a:t>
            </a:r>
            <a:endParaRPr lang="en-US" altLang="ko-KR" smtClean="0"/>
          </a:p>
          <a:p>
            <a:r>
              <a:rPr lang="ko-KR" altLang="en-US" smtClean="0"/>
              <a:t>네러티브 디자이너 </a:t>
            </a:r>
            <a:r>
              <a:rPr lang="en-US" altLang="ko-KR" smtClean="0"/>
              <a:t>: </a:t>
            </a:r>
            <a:r>
              <a:rPr lang="ko-KR" altLang="en-US" smtClean="0"/>
              <a:t>게임의 상황이나 분위기에 맞게 </a:t>
            </a:r>
            <a:r>
              <a:rPr lang="en-US" altLang="ko-KR" smtClean="0"/>
              <a:t>NPC</a:t>
            </a:r>
            <a:r>
              <a:rPr lang="ko-KR" altLang="en-US" smtClean="0"/>
              <a:t>의 대사를 맞추는 것이 그 예시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두 직업군이 영화를 보는 듯한 느낌을 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국내에서는 이 영역을 아직까지 퀘스트 담당이 한다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794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개발쪽과 관련됐지만 필수는 아닌 직업군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사운드 </a:t>
            </a:r>
            <a:r>
              <a:rPr lang="en-US" altLang="ko-KR"/>
              <a:t>: </a:t>
            </a:r>
            <a:r>
              <a:rPr lang="ko-KR" altLang="en-US"/>
              <a:t>사운드 디렉터</a:t>
            </a:r>
            <a:r>
              <a:rPr lang="en-US" altLang="ko-KR"/>
              <a:t>(SD)</a:t>
            </a:r>
            <a:r>
              <a:rPr lang="ko-KR" altLang="en-US"/>
              <a:t>가 있다</a:t>
            </a:r>
            <a:r>
              <a:rPr lang="en-US" altLang="ko-KR"/>
              <a:t>. 4</a:t>
            </a:r>
            <a:r>
              <a:rPr lang="ko-KR" altLang="en-US"/>
              <a:t>가지로 나뉨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en-US" altLang="ko-KR" smtClean="0"/>
              <a:t>BGM : </a:t>
            </a:r>
            <a:r>
              <a:rPr lang="ko-KR" altLang="en-US" smtClean="0"/>
              <a:t>배경 음악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효과음</a:t>
            </a:r>
            <a:r>
              <a:rPr lang="en-US" altLang="ko-KR"/>
              <a:t>(</a:t>
            </a:r>
            <a:r>
              <a:rPr lang="ko-KR" altLang="en-US"/>
              <a:t>사운드 이펙트</a:t>
            </a:r>
            <a:r>
              <a:rPr lang="en-US" altLang="ko-KR" smtClean="0"/>
              <a:t>) : </a:t>
            </a:r>
            <a:r>
              <a:rPr lang="ko-KR" altLang="en-US" smtClean="0"/>
              <a:t>말이 달리는 소리 등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성우 효과음 </a:t>
            </a:r>
            <a:r>
              <a:rPr lang="en-US" altLang="ko-KR" smtClean="0"/>
              <a:t>: </a:t>
            </a:r>
            <a:r>
              <a:rPr lang="ko-KR" altLang="en-US" smtClean="0"/>
              <a:t>사람이 내는 소리</a:t>
            </a:r>
            <a:r>
              <a:rPr lang="en-US" altLang="ko-KR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성우 대사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(3, 4</a:t>
            </a:r>
            <a:r>
              <a:rPr lang="ko-KR" altLang="en-US" smtClean="0"/>
              <a:t>번은</a:t>
            </a:r>
            <a:r>
              <a:rPr lang="en-US" altLang="ko-KR" smtClean="0"/>
              <a:t>)</a:t>
            </a:r>
            <a:r>
              <a:rPr lang="ko-KR" altLang="en-US" smtClean="0"/>
              <a:t>전문 성우를 섭외해서 작업해야 하는 영역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70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개발쪽과 관련됐지만 필수는 아닌 </a:t>
            </a:r>
            <a:r>
              <a:rPr lang="ko-KR" altLang="en-US" smtClean="0"/>
              <a:t>직업군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개발 인프라 관련 직군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빌드 관리팀 </a:t>
            </a:r>
            <a:r>
              <a:rPr lang="en-US" altLang="ko-KR" smtClean="0"/>
              <a:t>: </a:t>
            </a:r>
            <a:r>
              <a:rPr lang="ko-KR" altLang="en-US" smtClean="0"/>
              <a:t>게임 데이터 버전 관리</a:t>
            </a:r>
            <a:endParaRPr lang="en-US" altLang="ko-KR" smtClean="0"/>
          </a:p>
          <a:p>
            <a:r>
              <a:rPr lang="ko-KR" altLang="en-US" smtClean="0"/>
              <a:t>게임의 최종 패치 버전을 구성하거나</a:t>
            </a:r>
            <a:r>
              <a:rPr lang="en-US" altLang="ko-KR" smtClean="0"/>
              <a:t>, </a:t>
            </a:r>
            <a:r>
              <a:rPr lang="ko-KR" altLang="en-US" smtClean="0"/>
              <a:t>기획자</a:t>
            </a:r>
            <a:r>
              <a:rPr lang="en-US" altLang="ko-KR" smtClean="0"/>
              <a:t>.</a:t>
            </a:r>
            <a:r>
              <a:rPr lang="ko-KR" altLang="en-US" smtClean="0"/>
              <a:t>프로그래머</a:t>
            </a:r>
            <a:r>
              <a:rPr lang="en-US" altLang="ko-KR" smtClean="0"/>
              <a:t>.</a:t>
            </a:r>
            <a:r>
              <a:rPr lang="ko-KR" altLang="en-US" smtClean="0"/>
              <a:t>그래픽 디자이너들이 만드는 데이터를 최종 관리한다</a:t>
            </a:r>
            <a:r>
              <a:rPr lang="en-US" altLang="ko-KR" smtClean="0"/>
              <a:t>. </a:t>
            </a:r>
          </a:p>
          <a:p>
            <a:r>
              <a:rPr lang="ko-KR" altLang="en-US" smtClean="0"/>
              <a:t>이들의 데이터를 합쳐서 테스트할 수 있는 테스트가 나오면 </a:t>
            </a:r>
            <a:r>
              <a:rPr lang="en-US" altLang="ko-KR" smtClean="0"/>
              <a:t>QA</a:t>
            </a:r>
            <a:r>
              <a:rPr lang="ko-KR" altLang="en-US" smtClean="0"/>
              <a:t>가 테스트를 하고</a:t>
            </a:r>
            <a:r>
              <a:rPr lang="en-US" altLang="ko-KR" smtClean="0"/>
              <a:t>, </a:t>
            </a:r>
            <a:r>
              <a:rPr lang="ko-KR" altLang="en-US" smtClean="0"/>
              <a:t>버그나 예외 사항이 발생하면 게임 데이터를 다시 합치고</a:t>
            </a:r>
            <a:r>
              <a:rPr lang="en-US" altLang="ko-KR" smtClean="0"/>
              <a:t>, </a:t>
            </a:r>
            <a:r>
              <a:rPr lang="ko-KR" altLang="en-US" smtClean="0"/>
              <a:t>그 문제의 담당에게 문제 보고서를 다시 넘긴다</a:t>
            </a:r>
            <a:r>
              <a:rPr lang="en-US" altLang="ko-KR" smtClean="0"/>
              <a:t>. </a:t>
            </a:r>
            <a:r>
              <a:rPr lang="ko-KR" altLang="en-US" smtClean="0"/>
              <a:t>해결하면 다시 이전의 과정이 반복된다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작은 회사들은 프로그래머가 이를 담당하기도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26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개발쪽과 관련됐지만 필수는 아닌 직업군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보안팀 </a:t>
            </a:r>
            <a:r>
              <a:rPr lang="en-US" altLang="ko-KR" smtClean="0"/>
              <a:t>: </a:t>
            </a:r>
            <a:r>
              <a:rPr lang="ko-KR" altLang="en-US" smtClean="0"/>
              <a:t>데이터들이 외부의 </a:t>
            </a:r>
            <a:r>
              <a:rPr lang="en-US" altLang="ko-KR" smtClean="0"/>
              <a:t>IDC </a:t>
            </a:r>
            <a:r>
              <a:rPr lang="ko-KR" altLang="en-US" smtClean="0"/>
              <a:t>센터로 보내지면</a:t>
            </a:r>
            <a:r>
              <a:rPr lang="en-US" altLang="ko-KR" smtClean="0"/>
              <a:t>, ‘</a:t>
            </a:r>
            <a:r>
              <a:rPr lang="ko-KR" altLang="en-US" b="1" smtClean="0"/>
              <a:t>물리적인 보안</a:t>
            </a:r>
            <a:r>
              <a:rPr lang="en-US" altLang="ko-KR" b="1" smtClean="0"/>
              <a:t>’</a:t>
            </a:r>
            <a:r>
              <a:rPr lang="ko-KR" altLang="en-US" smtClean="0"/>
              <a:t>과 </a:t>
            </a:r>
            <a:r>
              <a:rPr lang="en-US" altLang="ko-KR" smtClean="0"/>
              <a:t>‘</a:t>
            </a:r>
            <a:r>
              <a:rPr lang="ko-KR" altLang="en-US" b="1" smtClean="0"/>
              <a:t>네트워크적인 보안</a:t>
            </a:r>
            <a:r>
              <a:rPr lang="en-US" altLang="ko-KR" b="1" smtClean="0"/>
              <a:t>’</a:t>
            </a:r>
            <a:r>
              <a:rPr lang="en-US" altLang="ko-KR" smtClean="0"/>
              <a:t>, ‘</a:t>
            </a:r>
            <a:r>
              <a:rPr lang="ko-KR" altLang="en-US" b="1" smtClean="0"/>
              <a:t>소프트웨어적인 보안</a:t>
            </a:r>
            <a:r>
              <a:rPr lang="en-US" altLang="ko-KR" b="1" smtClean="0"/>
              <a:t>’</a:t>
            </a:r>
            <a:r>
              <a:rPr lang="ko-KR" altLang="en-US" smtClean="0"/>
              <a:t>을 모두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넥슨 등 국내 기업들은 </a:t>
            </a:r>
            <a:r>
              <a:rPr lang="en-US" altLang="ko-KR" smtClean="0"/>
              <a:t>IDC </a:t>
            </a:r>
            <a:r>
              <a:rPr lang="ko-KR" altLang="en-US" smtClean="0"/>
              <a:t>센터와 계약해서 보안 관리를 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전산팀 </a:t>
            </a:r>
            <a:r>
              <a:rPr lang="en-US" altLang="ko-KR"/>
              <a:t>: </a:t>
            </a:r>
            <a:r>
              <a:rPr lang="ko-KR" altLang="en-US"/>
              <a:t>내 컴퓨터를 관리하는 사람들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6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개발쪽과 관련됐지만 필수는 아닌 </a:t>
            </a:r>
            <a:r>
              <a:rPr lang="ko-KR" altLang="en-US" smtClean="0"/>
              <a:t>직업군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사업 </a:t>
            </a:r>
            <a:r>
              <a:rPr lang="en-US" altLang="ko-KR" smtClean="0"/>
              <a:t>/ </a:t>
            </a:r>
            <a:r>
              <a:rPr lang="ko-KR" altLang="en-US" smtClean="0"/>
              <a:t>서비스 관련 직군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사업팀 </a:t>
            </a:r>
            <a:r>
              <a:rPr lang="en-US" altLang="ko-KR" smtClean="0"/>
              <a:t>: </a:t>
            </a:r>
            <a:r>
              <a:rPr lang="ko-KR" altLang="en-US" smtClean="0"/>
              <a:t>홍보 및 개발 비용을 산정</a:t>
            </a:r>
            <a:r>
              <a:rPr lang="en-US" altLang="ko-KR" smtClean="0"/>
              <a:t>. </a:t>
            </a:r>
            <a:r>
              <a:rPr lang="ko-KR" altLang="en-US" smtClean="0"/>
              <a:t>수익성 관리를 한다</a:t>
            </a:r>
            <a:r>
              <a:rPr lang="en-US" altLang="ko-KR" smtClean="0"/>
              <a:t>. </a:t>
            </a:r>
            <a:r>
              <a:rPr lang="ko-KR" altLang="en-US" smtClean="0"/>
              <a:t>사업팀이 이 게임 재미없다고 판단하면 게임이 없어지기도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사업 개발</a:t>
            </a:r>
            <a:r>
              <a:rPr lang="en-US" altLang="ko-KR" smtClean="0"/>
              <a:t>, </a:t>
            </a:r>
            <a:r>
              <a:rPr lang="ko-KR" altLang="en-US" smtClean="0"/>
              <a:t>마켓팅</a:t>
            </a:r>
            <a:r>
              <a:rPr lang="en-US" altLang="ko-KR" smtClean="0"/>
              <a:t>, </a:t>
            </a:r>
            <a:r>
              <a:rPr lang="ko-KR" altLang="en-US" smtClean="0"/>
              <a:t>홍보</a:t>
            </a:r>
            <a:r>
              <a:rPr lang="en-US" altLang="ko-KR" smtClean="0"/>
              <a:t>, </a:t>
            </a:r>
            <a:r>
              <a:rPr lang="ko-KR" altLang="en-US" smtClean="0"/>
              <a:t>해외 사업팀으로 세분화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사업팀이 수익 관리를 통한 게임에 대한 </a:t>
            </a:r>
            <a:r>
              <a:rPr lang="en-US" altLang="ko-KR" smtClean="0"/>
              <a:t>‘</a:t>
            </a:r>
            <a:r>
              <a:rPr lang="ko-KR" altLang="en-US" smtClean="0"/>
              <a:t>가치 판단</a:t>
            </a:r>
            <a:r>
              <a:rPr lang="en-US" altLang="ko-KR" smtClean="0"/>
              <a:t>’</a:t>
            </a:r>
            <a:r>
              <a:rPr lang="ko-KR" altLang="en-US" smtClean="0"/>
              <a:t>을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여기까지가 게임에 직</a:t>
            </a:r>
            <a:r>
              <a:rPr lang="en-US" altLang="ko-KR" smtClean="0"/>
              <a:t>.</a:t>
            </a:r>
            <a:r>
              <a:rPr lang="ko-KR" altLang="en-US" smtClean="0"/>
              <a:t>간접적인 관련이 있는 직업군들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57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+ </a:t>
            </a:r>
            <a:r>
              <a:rPr lang="ko-KR" altLang="en-US" smtClean="0"/>
              <a:t>추가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smtClean="0"/>
              <a:t>일정 관리 용도로 외주를 맡길 때가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PM</a:t>
            </a:r>
            <a:r>
              <a:rPr lang="ko-KR" altLang="en-US" smtClean="0"/>
              <a:t>들이 외주 계약 관련 일들을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이들도 우리 게임에 도움을 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CRM : </a:t>
            </a:r>
            <a:r>
              <a:rPr lang="ko-KR" altLang="en-US" smtClean="0"/>
              <a:t>플랫폼</a:t>
            </a:r>
            <a:r>
              <a:rPr lang="en-US" altLang="ko-KR" smtClean="0"/>
              <a:t>, </a:t>
            </a:r>
            <a:r>
              <a:rPr lang="ko-KR" altLang="en-US" smtClean="0"/>
              <a:t>사이트 관리</a:t>
            </a:r>
            <a:r>
              <a:rPr lang="en-US" altLang="ko-KR" smtClean="0"/>
              <a:t>. </a:t>
            </a:r>
            <a:r>
              <a:rPr lang="ko-KR" altLang="en-US" smtClean="0"/>
              <a:t>고객과의 소통을 관리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GM, CS : </a:t>
            </a:r>
            <a:r>
              <a:rPr lang="ko-KR" altLang="en-US" smtClean="0"/>
              <a:t>이 영역 안에서 활동하는 사람들</a:t>
            </a:r>
            <a:r>
              <a:rPr lang="en-US" altLang="ko-KR" smtClean="0"/>
              <a:t>. </a:t>
            </a:r>
            <a:r>
              <a:rPr lang="ko-KR" altLang="en-US" smtClean="0"/>
              <a:t>고객과의 관계 형성 관리를 도와준다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게임 운영팀 </a:t>
            </a:r>
            <a:r>
              <a:rPr lang="en-US" altLang="ko-KR" smtClean="0"/>
              <a:t>: </a:t>
            </a:r>
            <a:r>
              <a:rPr lang="ko-KR" altLang="en-US" smtClean="0"/>
              <a:t>전산팀 </a:t>
            </a:r>
            <a:r>
              <a:rPr lang="en-US" altLang="ko-KR" smtClean="0"/>
              <a:t>+ CRM(GM, CS)</a:t>
            </a:r>
          </a:p>
          <a:p>
            <a:endParaRPr lang="en-US" altLang="ko-KR"/>
          </a:p>
          <a:p>
            <a:r>
              <a:rPr lang="ko-KR" altLang="en-US" smtClean="0"/>
              <a:t>외국에서는 </a:t>
            </a:r>
            <a:r>
              <a:rPr lang="en-US" altLang="ko-KR" smtClean="0"/>
              <a:t>TA</a:t>
            </a:r>
            <a:r>
              <a:rPr lang="ko-KR" altLang="en-US" smtClean="0"/>
              <a:t>가 중요하다</a:t>
            </a:r>
            <a:r>
              <a:rPr lang="en-US" altLang="ko-KR" smtClean="0"/>
              <a:t>. </a:t>
            </a:r>
            <a:r>
              <a:rPr lang="ko-KR" altLang="en-US" smtClean="0"/>
              <a:t>테크니컬 아티스트</a:t>
            </a:r>
            <a:r>
              <a:rPr lang="en-US" altLang="ko-KR" smtClean="0"/>
              <a:t>. </a:t>
            </a:r>
            <a:r>
              <a:rPr lang="ko-KR" altLang="en-US" smtClean="0"/>
              <a:t>그래픽과 프로그램을 조율한다</a:t>
            </a:r>
            <a:r>
              <a:rPr lang="en-US" altLang="ko-KR" smtClean="0"/>
              <a:t>. </a:t>
            </a:r>
            <a:r>
              <a:rPr lang="ko-KR" altLang="en-US" smtClean="0"/>
              <a:t>한국에는 잘하는 </a:t>
            </a:r>
            <a:r>
              <a:rPr lang="en-US" altLang="ko-KR" smtClean="0"/>
              <a:t>TA</a:t>
            </a:r>
            <a:r>
              <a:rPr lang="ko-KR" altLang="en-US" smtClean="0"/>
              <a:t>가 많이 없다</a:t>
            </a:r>
            <a:r>
              <a:rPr lang="en-US" altLang="ko-KR" smtClean="0"/>
              <a:t>. </a:t>
            </a:r>
            <a:r>
              <a:rPr lang="ko-KR" altLang="en-US" smtClean="0"/>
              <a:t>프로그램도 알아야 되고 그래픽도 알아야 한다</a:t>
            </a:r>
            <a:r>
              <a:rPr lang="en-US" altLang="ko-KR" smtClean="0"/>
              <a:t>. </a:t>
            </a:r>
            <a:r>
              <a:rPr lang="ko-KR" altLang="en-US" smtClean="0"/>
              <a:t>한국에서는 이펙트 디자이너가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30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mtClean="0"/>
              <a:t>AI</a:t>
            </a:r>
            <a:r>
              <a:rPr lang="ko-KR" altLang="en-US" smtClean="0"/>
              <a:t>가 모든 포지션을 대체하고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Meshy : </a:t>
            </a:r>
            <a:r>
              <a:rPr lang="ko-KR" altLang="en-US" smtClean="0"/>
              <a:t>원화를 </a:t>
            </a:r>
            <a:r>
              <a:rPr lang="en-US" altLang="ko-KR" smtClean="0"/>
              <a:t>3D</a:t>
            </a:r>
            <a:r>
              <a:rPr lang="ko-KR" altLang="en-US" smtClean="0"/>
              <a:t>로 모델링하는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로우폴</a:t>
            </a:r>
            <a:r>
              <a:rPr lang="en-US" altLang="ko-KR" smtClean="0"/>
              <a:t>, </a:t>
            </a:r>
            <a:r>
              <a:rPr lang="ko-KR" altLang="en-US" smtClean="0"/>
              <a:t>하이폴</a:t>
            </a:r>
            <a:r>
              <a:rPr lang="en-US" altLang="ko-KR" smtClean="0"/>
              <a:t>, </a:t>
            </a:r>
            <a:r>
              <a:rPr lang="ko-KR" altLang="en-US" smtClean="0"/>
              <a:t>폴리곤이란 뭔지 찾아보기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SUNO : </a:t>
            </a:r>
            <a:r>
              <a:rPr lang="ko-KR" altLang="en-US" smtClean="0"/>
              <a:t>배경음악 제작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ElevenLabs : </a:t>
            </a:r>
            <a:r>
              <a:rPr lang="ko-KR" altLang="en-US" smtClean="0"/>
              <a:t>음성 제작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4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7" y="485364"/>
            <a:ext cx="8707065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785</Words>
  <Application>Microsoft Office PowerPoint</Application>
  <PresentationFormat>와이드스크린</PresentationFormat>
  <Paragraphs>96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제작 공정의 이해</vt:lpstr>
      <vt:lpstr>팀 구성</vt:lpstr>
      <vt:lpstr>팀 구성</vt:lpstr>
      <vt:lpstr>유관 부서</vt:lpstr>
      <vt:lpstr>유관 부서</vt:lpstr>
      <vt:lpstr>개발쪽과 관련됐지만 필수는 아닌 직업군</vt:lpstr>
      <vt:lpstr>개발쪽과 관련됐지만 필수는 아닌 직업군</vt:lpstr>
      <vt:lpstr>개발쪽과 관련됐지만 필수는 아닌 직업군 - 개발 인프라 관련 직군</vt:lpstr>
      <vt:lpstr>개발쪽과 관련됐지만 필수는 아닌 직업군</vt:lpstr>
      <vt:lpstr>개발쪽과 관련됐지만 필수는 아닌 직업군 - 사업 / 서비스 관련 직군</vt:lpstr>
      <vt:lpstr>+ 추가</vt:lpstr>
      <vt:lpstr>AI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제작 공정</dc:title>
  <dc:creator>FullName</dc:creator>
  <cp:lastModifiedBy>FullName</cp:lastModifiedBy>
  <cp:revision>12</cp:revision>
  <dcterms:created xsi:type="dcterms:W3CDTF">2026-02-10T05:02:43Z</dcterms:created>
  <dcterms:modified xsi:type="dcterms:W3CDTF">2026-02-11T05:21:30Z</dcterms:modified>
</cp:coreProperties>
</file>